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694A9BA-3C51-4E7D-A3CC-E2B2F129DDB0}">
  <a:tblStyle styleId="{7694A9BA-3C51-4E7D-A3CC-E2B2F129DDB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47d6ad30771079e8_3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h47d6ad30771079e8_3_75: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h47d6ad30771079e8_3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h47d6ad30771079e8_3_86: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47d6ad30771079e8_3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h47d6ad30771079e8_3_11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47d6ad30771079e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h47d6ad30771079e8_0_5: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47d6ad30771079e8_3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h47d6ad30771079e8_3_132: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h47d6ad30771079e8_3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h47d6ad30771079e8_3_144: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754a3f3d7c013ff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h754a3f3d7c013ff7_1_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754a3f3d7c013ff7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h754a3f3d7c013ff7_1_21: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h754a3f3d7c013ff7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h754a3f3d7c013ff7_1_44: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h754a3f3d7c013ff7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h754a3f3d7c013ff7_1_74: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h47d6ad30771079e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h47d6ad30771079e8_0_19: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h754a3f3d7c013ff7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h754a3f3d7c013ff7_1_8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h754a3f3d7c013ff7_1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h754a3f3d7c013ff7_1_127: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h754a3f3d7c013ff7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h754a3f3d7c013ff7_1_171: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h754a3f3d7c013ff7_1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h754a3f3d7c013ff7_1_191: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h754a3f3d7c013ff7_1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h754a3f3d7c013ff7_1_214: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h754a3f3d7c013ff7_1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h754a3f3d7c013ff7_1_236: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h754a3f3d7c013ff7_1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h754a3f3d7c013ff7_1_256: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h47d6ad30771079e8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h47d6ad30771079e8_0_52: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hyperlink" Target="https://www.kaggle.com/datasets/nelgiriyewithana/global-weather-repository/data"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8" name="Shape 128"/>
        <p:cNvGrpSpPr/>
        <p:nvPr/>
      </p:nvGrpSpPr>
      <p:grpSpPr>
        <a:xfrm>
          <a:off x="0" y="0"/>
          <a:ext cx="0" cy="0"/>
          <a:chOff x="0" y="0"/>
          <a:chExt cx="0" cy="0"/>
        </a:xfrm>
      </p:grpSpPr>
      <p:pic>
        <p:nvPicPr>
          <p:cNvPr descr="a_wide_ultra_realistic_high_resolution_photograp.png" id="129" name="Google Shape;129;p25"/>
          <p:cNvPicPr preferRelativeResize="0"/>
          <p:nvPr/>
        </p:nvPicPr>
        <p:blipFill rotWithShape="1">
          <a:blip r:embed="rId3">
            <a:alphaModFix/>
          </a:blip>
          <a:srcRect b="0" l="0" r="0" t="0"/>
          <a:stretch/>
        </p:blipFill>
        <p:spPr>
          <a:xfrm>
            <a:off x="0" y="0"/>
            <a:ext cx="9143771" cy="5143500"/>
          </a:xfrm>
          <a:prstGeom prst="rect">
            <a:avLst/>
          </a:prstGeom>
          <a:noFill/>
          <a:ln>
            <a:noFill/>
          </a:ln>
        </p:spPr>
      </p:pic>
      <p:sp>
        <p:nvSpPr>
          <p:cNvPr id="130" name="Google Shape;130;p25"/>
          <p:cNvSpPr/>
          <p:nvPr/>
        </p:nvSpPr>
        <p:spPr>
          <a:xfrm>
            <a:off x="0" y="0"/>
            <a:ext cx="4286400" cy="5143500"/>
          </a:xfrm>
          <a:prstGeom prst="rect">
            <a:avLst/>
          </a:prstGeom>
          <a:solidFill>
            <a:srgbClr val="14263F">
              <a:alpha val="32941"/>
            </a:srgbClr>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1" name="Google Shape;131;p25"/>
          <p:cNvSpPr txBox="1"/>
          <p:nvPr/>
        </p:nvSpPr>
        <p:spPr>
          <a:xfrm>
            <a:off x="435596" y="581895"/>
            <a:ext cx="3669000" cy="869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600" u="none" cap="none" strike="noStrike">
                <a:solidFill>
                  <a:srgbClr val="FFFFFF"/>
                </a:solidFill>
                <a:latin typeface="Arial"/>
                <a:ea typeface="Arial"/>
                <a:cs typeface="Arial"/>
                <a:sym typeface="Arial"/>
              </a:rPr>
              <a:t>Weather Trend Forecasting</a:t>
            </a:r>
            <a:endParaRPr sz="1100"/>
          </a:p>
        </p:txBody>
      </p:sp>
      <p:sp>
        <p:nvSpPr>
          <p:cNvPr id="132" name="Google Shape;132;p25"/>
          <p:cNvSpPr txBox="1"/>
          <p:nvPr/>
        </p:nvSpPr>
        <p:spPr>
          <a:xfrm>
            <a:off x="462904" y="1451595"/>
            <a:ext cx="33606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FFFFFF"/>
                </a:solidFill>
                <a:latin typeface="Arial"/>
                <a:ea typeface="Arial"/>
                <a:cs typeface="Arial"/>
                <a:sym typeface="Arial"/>
              </a:rPr>
              <a:t>Analysis and forecast modeling for the Global Weather Repository</a:t>
            </a:r>
            <a:endParaRPr sz="1100"/>
          </a:p>
        </p:txBody>
      </p:sp>
      <p:sp>
        <p:nvSpPr>
          <p:cNvPr id="133" name="Google Shape;133;p25"/>
          <p:cNvSpPr txBox="1"/>
          <p:nvPr/>
        </p:nvSpPr>
        <p:spPr>
          <a:xfrm>
            <a:off x="513154" y="1890190"/>
            <a:ext cx="20574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100">
                <a:solidFill>
                  <a:srgbClr val="FFFFFF"/>
                </a:solidFill>
              </a:rPr>
              <a:t>By : </a:t>
            </a:r>
            <a:r>
              <a:rPr b="1" i="0" lang="en" sz="1100" u="none" cap="none" strike="noStrike">
                <a:solidFill>
                  <a:srgbClr val="FFFFFF"/>
                </a:solidFill>
                <a:latin typeface="Arial"/>
                <a:ea typeface="Arial"/>
                <a:cs typeface="Arial"/>
                <a:sym typeface="Arial"/>
              </a:rPr>
              <a:t>Rola Elabd</a:t>
            </a:r>
            <a:endParaRPr sz="900"/>
          </a:p>
        </p:txBody>
      </p:sp>
      <p:sp>
        <p:nvSpPr>
          <p:cNvPr id="134" name="Google Shape;134;p25"/>
          <p:cNvSpPr txBox="1"/>
          <p:nvPr/>
        </p:nvSpPr>
        <p:spPr>
          <a:xfrm>
            <a:off x="589802" y="3597475"/>
            <a:ext cx="2947800" cy="1069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900">
                <a:solidFill>
                  <a:srgbClr val="FFFFFF"/>
                </a:solidFill>
              </a:rPr>
              <a:t>PM Accelerator Data Science </a:t>
            </a:r>
            <a:r>
              <a:rPr b="1" lang="en" sz="900">
                <a:solidFill>
                  <a:srgbClr val="FFFFFF"/>
                </a:solidFill>
              </a:rPr>
              <a:t>Assessment</a:t>
            </a:r>
            <a:r>
              <a:rPr b="1" lang="en" sz="900">
                <a:solidFill>
                  <a:srgbClr val="FFFFFF"/>
                </a:solidFill>
              </a:rPr>
              <a:t> </a:t>
            </a:r>
            <a:r>
              <a:rPr b="1" i="0" lang="en" sz="900" u="none" cap="none" strike="noStrike">
                <a:solidFill>
                  <a:srgbClr val="FFFFFF"/>
                </a:solidFill>
              </a:rPr>
              <a:t>2026</a:t>
            </a:r>
            <a:br>
              <a:rPr b="0" i="0" lang="en" sz="800" u="none" cap="none" strike="noStrike">
                <a:solidFill>
                  <a:srgbClr val="FFFFFF"/>
                </a:solidFill>
                <a:latin typeface="Arial"/>
                <a:ea typeface="Arial"/>
                <a:cs typeface="Arial"/>
                <a:sym typeface="Arial"/>
              </a:rPr>
            </a:br>
            <a:r>
              <a:rPr lang="en" sz="800">
                <a:solidFill>
                  <a:schemeClr val="lt1"/>
                </a:solidFill>
              </a:rPr>
              <a:t>By making industry-leading tools and education available to individuals from all backgrounds,</a:t>
            </a:r>
            <a:r>
              <a:rPr b="1" lang="en" sz="800">
                <a:solidFill>
                  <a:schemeClr val="lt1"/>
                </a:solidFill>
              </a:rPr>
              <a:t> we level the playing field for future PM leaders.</a:t>
            </a:r>
            <a:r>
              <a:rPr lang="en" sz="800">
                <a:solidFill>
                  <a:schemeClr val="lt1"/>
                </a:solidFill>
              </a:rPr>
              <a:t> This is the PM Accelerator motto, as we grant aspiring and experienced PMs what they need most – Access. We introduce you to industry leaders, </a:t>
            </a:r>
            <a:r>
              <a:rPr b="1" lang="en" sz="800">
                <a:solidFill>
                  <a:schemeClr val="lt1"/>
                </a:solidFill>
              </a:rPr>
              <a:t>surround you with the right PM ecosystem</a:t>
            </a:r>
            <a:r>
              <a:rPr lang="en" sz="800">
                <a:solidFill>
                  <a:schemeClr val="lt1"/>
                </a:solidFill>
              </a:rPr>
              <a:t>, and discover the new world of AI product management skills. </a:t>
            </a:r>
            <a:endParaRPr sz="8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8" name="Shape 138"/>
        <p:cNvGrpSpPr/>
        <p:nvPr/>
      </p:nvGrpSpPr>
      <p:grpSpPr>
        <a:xfrm>
          <a:off x="0" y="0"/>
          <a:ext cx="0" cy="0"/>
          <a:chOff x="0" y="0"/>
          <a:chExt cx="0" cy="0"/>
        </a:xfrm>
      </p:grpSpPr>
      <p:sp>
        <p:nvSpPr>
          <p:cNvPr id="139" name="Google Shape;139;p26"/>
          <p:cNvSpPr txBox="1"/>
          <p:nvPr/>
        </p:nvSpPr>
        <p:spPr>
          <a:xfrm>
            <a:off x="445782" y="288036"/>
            <a:ext cx="8229819"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4263F"/>
                </a:solidFill>
                <a:latin typeface="Arial"/>
                <a:ea typeface="Arial"/>
                <a:cs typeface="Arial"/>
                <a:sym typeface="Arial"/>
              </a:rPr>
              <a:t>Problem &amp; Objective</a:t>
            </a:r>
            <a:endParaRPr sz="1100"/>
          </a:p>
        </p:txBody>
      </p:sp>
      <p:sp>
        <p:nvSpPr>
          <p:cNvPr id="140" name="Google Shape;140;p26"/>
          <p:cNvSpPr txBox="1"/>
          <p:nvPr/>
        </p:nvSpPr>
        <p:spPr>
          <a:xfrm>
            <a:off x="459498" y="672084"/>
            <a:ext cx="8092656" cy="26060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64748B"/>
                </a:solidFill>
                <a:latin typeface="Arial"/>
                <a:ea typeface="Arial"/>
                <a:cs typeface="Arial"/>
                <a:sym typeface="Arial"/>
              </a:rPr>
              <a:t>From historical weather observations to a next-day temperature forecast</a:t>
            </a:r>
            <a:endParaRPr sz="1100"/>
          </a:p>
        </p:txBody>
      </p:sp>
      <p:sp>
        <p:nvSpPr>
          <p:cNvPr id="141" name="Google Shape;141;p26"/>
          <p:cNvSpPr/>
          <p:nvPr/>
        </p:nvSpPr>
        <p:spPr>
          <a:xfrm>
            <a:off x="480073" y="1062990"/>
            <a:ext cx="8195528" cy="809244"/>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2" name="Google Shape;142;p26"/>
          <p:cNvSpPr txBox="1"/>
          <p:nvPr/>
        </p:nvSpPr>
        <p:spPr>
          <a:xfrm>
            <a:off x="685818" y="1255014"/>
            <a:ext cx="7784037" cy="37719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1400" u="none" cap="none" strike="noStrike">
                <a:solidFill>
                  <a:srgbClr val="14263F"/>
                </a:solidFill>
                <a:latin typeface="Arial"/>
                <a:ea typeface="Arial"/>
                <a:cs typeface="Arial"/>
                <a:sym typeface="Arial"/>
              </a:rPr>
              <a:t>The goal is to forecast the temperature at the next observation, approximately 24 hours later, for the same location.</a:t>
            </a:r>
            <a:endParaRPr sz="1100"/>
          </a:p>
        </p:txBody>
      </p:sp>
      <p:sp>
        <p:nvSpPr>
          <p:cNvPr id="143" name="Google Shape;143;p26"/>
          <p:cNvSpPr/>
          <p:nvPr/>
        </p:nvSpPr>
        <p:spPr>
          <a:xfrm>
            <a:off x="514364" y="2434590"/>
            <a:ext cx="1337346" cy="857250"/>
          </a:xfrm>
          <a:prstGeom prst="roundRect">
            <a:avLst>
              <a:gd fmla="val 16667" name="adj"/>
            </a:avLst>
          </a:prstGeom>
          <a:solidFill>
            <a:srgbClr val="E2EEFA"/>
          </a:solidFill>
          <a:ln cap="flat" cmpd="sng" w="19050">
            <a:solidFill>
              <a:srgbClr val="2D67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4" name="Google Shape;144;p26"/>
          <p:cNvSpPr txBox="1"/>
          <p:nvPr/>
        </p:nvSpPr>
        <p:spPr>
          <a:xfrm>
            <a:off x="596662" y="2626614"/>
            <a:ext cx="1172749" cy="466344"/>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1000" u="none" cap="none" strike="noStrike">
                <a:solidFill>
                  <a:srgbClr val="14263F"/>
                </a:solidFill>
                <a:latin typeface="Arial"/>
                <a:ea typeface="Arial"/>
                <a:cs typeface="Arial"/>
                <a:sym typeface="Arial"/>
              </a:rPr>
              <a:t>Historical</a:t>
            </a:r>
            <a:br>
              <a:rPr b="1" i="0" lang="en" sz="1000" u="none" cap="none" strike="noStrike">
                <a:solidFill>
                  <a:srgbClr val="14263F"/>
                </a:solidFill>
                <a:latin typeface="Arial"/>
                <a:ea typeface="Arial"/>
                <a:cs typeface="Arial"/>
                <a:sym typeface="Arial"/>
              </a:rPr>
            </a:br>
            <a:r>
              <a:rPr b="1" i="0" lang="en" sz="1000" u="none" cap="none" strike="noStrike">
                <a:solidFill>
                  <a:srgbClr val="14263F"/>
                </a:solidFill>
                <a:latin typeface="Arial"/>
                <a:ea typeface="Arial"/>
                <a:cs typeface="Arial"/>
                <a:sym typeface="Arial"/>
              </a:rPr>
              <a:t>observations</a:t>
            </a:r>
            <a:endParaRPr sz="1100"/>
          </a:p>
        </p:txBody>
      </p:sp>
      <p:sp>
        <p:nvSpPr>
          <p:cNvPr id="145" name="Google Shape;145;p26"/>
          <p:cNvSpPr/>
          <p:nvPr/>
        </p:nvSpPr>
        <p:spPr>
          <a:xfrm>
            <a:off x="1899717" y="2681478"/>
            <a:ext cx="205745" cy="363474"/>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6" name="Google Shape;146;p26"/>
          <p:cNvSpPr/>
          <p:nvPr/>
        </p:nvSpPr>
        <p:spPr>
          <a:xfrm>
            <a:off x="2180902" y="2434590"/>
            <a:ext cx="1337346" cy="857250"/>
          </a:xfrm>
          <a:prstGeom prst="roundRect">
            <a:avLst>
              <a:gd fmla="val 16667" name="adj"/>
            </a:avLst>
          </a:prstGeom>
          <a:solidFill>
            <a:srgbClr val="E2F4F3"/>
          </a:solidFill>
          <a:ln cap="flat" cmpd="sng" w="19050">
            <a:solidFill>
              <a:srgbClr val="23858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7" name="Google Shape;147;p26"/>
          <p:cNvSpPr txBox="1"/>
          <p:nvPr/>
        </p:nvSpPr>
        <p:spPr>
          <a:xfrm>
            <a:off x="2263200" y="2626614"/>
            <a:ext cx="1172749" cy="466344"/>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1000" u="none" cap="none" strike="noStrike">
                <a:solidFill>
                  <a:srgbClr val="14263F"/>
                </a:solidFill>
                <a:latin typeface="Arial"/>
                <a:ea typeface="Arial"/>
                <a:cs typeface="Arial"/>
                <a:sym typeface="Arial"/>
              </a:rPr>
              <a:t>Temporal</a:t>
            </a:r>
            <a:br>
              <a:rPr b="1" i="0" lang="en" sz="1000" u="none" cap="none" strike="noStrike">
                <a:solidFill>
                  <a:srgbClr val="14263F"/>
                </a:solidFill>
                <a:latin typeface="Arial"/>
                <a:ea typeface="Arial"/>
                <a:cs typeface="Arial"/>
                <a:sym typeface="Arial"/>
              </a:rPr>
            </a:br>
            <a:r>
              <a:rPr b="1" i="0" lang="en" sz="1000" u="none" cap="none" strike="noStrike">
                <a:solidFill>
                  <a:srgbClr val="14263F"/>
                </a:solidFill>
                <a:latin typeface="Arial"/>
                <a:ea typeface="Arial"/>
                <a:cs typeface="Arial"/>
                <a:sym typeface="Arial"/>
              </a:rPr>
              <a:t>feature engineering</a:t>
            </a:r>
            <a:endParaRPr sz="1100"/>
          </a:p>
        </p:txBody>
      </p:sp>
      <p:sp>
        <p:nvSpPr>
          <p:cNvPr id="148" name="Google Shape;148;p26"/>
          <p:cNvSpPr/>
          <p:nvPr/>
        </p:nvSpPr>
        <p:spPr>
          <a:xfrm>
            <a:off x="3566255" y="2681478"/>
            <a:ext cx="205745" cy="363474"/>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9" name="Google Shape;149;p26"/>
          <p:cNvSpPr/>
          <p:nvPr/>
        </p:nvSpPr>
        <p:spPr>
          <a:xfrm>
            <a:off x="3847441" y="2434590"/>
            <a:ext cx="1337346" cy="857250"/>
          </a:xfrm>
          <a:prstGeom prst="roundRect">
            <a:avLst>
              <a:gd fmla="val 16667" name="adj"/>
            </a:avLst>
          </a:prstGeom>
          <a:solidFill>
            <a:srgbClr val="E2EEFA"/>
          </a:solidFill>
          <a:ln cap="flat" cmpd="sng" w="19050">
            <a:solidFill>
              <a:srgbClr val="2D67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0" name="Google Shape;150;p26"/>
          <p:cNvSpPr txBox="1"/>
          <p:nvPr/>
        </p:nvSpPr>
        <p:spPr>
          <a:xfrm>
            <a:off x="3929739" y="2626614"/>
            <a:ext cx="1172749" cy="466344"/>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1000" u="none" cap="none" strike="noStrike">
                <a:solidFill>
                  <a:srgbClr val="14263F"/>
                </a:solidFill>
                <a:latin typeface="Arial"/>
                <a:ea typeface="Arial"/>
                <a:cs typeface="Arial"/>
                <a:sym typeface="Arial"/>
              </a:rPr>
              <a:t>Multiple</a:t>
            </a:r>
            <a:br>
              <a:rPr b="1" i="0" lang="en" sz="1000" u="none" cap="none" strike="noStrike">
                <a:solidFill>
                  <a:srgbClr val="14263F"/>
                </a:solidFill>
                <a:latin typeface="Arial"/>
                <a:ea typeface="Arial"/>
                <a:cs typeface="Arial"/>
                <a:sym typeface="Arial"/>
              </a:rPr>
            </a:br>
            <a:r>
              <a:rPr b="1" i="0" lang="en" sz="1000" u="none" cap="none" strike="noStrike">
                <a:solidFill>
                  <a:srgbClr val="14263F"/>
                </a:solidFill>
                <a:latin typeface="Arial"/>
                <a:ea typeface="Arial"/>
                <a:cs typeface="Arial"/>
                <a:sym typeface="Arial"/>
              </a:rPr>
              <a:t>forecasting models</a:t>
            </a:r>
            <a:endParaRPr sz="1100"/>
          </a:p>
        </p:txBody>
      </p:sp>
      <p:sp>
        <p:nvSpPr>
          <p:cNvPr id="151" name="Google Shape;151;p26"/>
          <p:cNvSpPr/>
          <p:nvPr/>
        </p:nvSpPr>
        <p:spPr>
          <a:xfrm>
            <a:off x="5232793" y="2681478"/>
            <a:ext cx="205745" cy="363474"/>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2" name="Google Shape;152;p26"/>
          <p:cNvSpPr/>
          <p:nvPr/>
        </p:nvSpPr>
        <p:spPr>
          <a:xfrm>
            <a:off x="5513978" y="2434590"/>
            <a:ext cx="1337346" cy="857250"/>
          </a:xfrm>
          <a:prstGeom prst="roundRect">
            <a:avLst>
              <a:gd fmla="val 16667" name="adj"/>
            </a:avLst>
          </a:prstGeom>
          <a:solidFill>
            <a:srgbClr val="E2F4F3"/>
          </a:solidFill>
          <a:ln cap="flat" cmpd="sng" w="19050">
            <a:solidFill>
              <a:srgbClr val="23858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3" name="Google Shape;153;p26"/>
          <p:cNvSpPr txBox="1"/>
          <p:nvPr/>
        </p:nvSpPr>
        <p:spPr>
          <a:xfrm>
            <a:off x="5596276" y="2626614"/>
            <a:ext cx="1172749" cy="466344"/>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1000" u="none" cap="none" strike="noStrike">
                <a:solidFill>
                  <a:srgbClr val="14263F"/>
                </a:solidFill>
                <a:latin typeface="Arial"/>
                <a:ea typeface="Arial"/>
                <a:cs typeface="Arial"/>
                <a:sym typeface="Arial"/>
              </a:rPr>
              <a:t>Final</a:t>
            </a:r>
            <a:br>
              <a:rPr b="1" i="0" lang="en" sz="1000" u="none" cap="none" strike="noStrike">
                <a:solidFill>
                  <a:srgbClr val="14263F"/>
                </a:solidFill>
                <a:latin typeface="Arial"/>
                <a:ea typeface="Arial"/>
                <a:cs typeface="Arial"/>
                <a:sym typeface="Arial"/>
              </a:rPr>
            </a:br>
            <a:r>
              <a:rPr b="1" i="0" lang="en" sz="1000" u="none" cap="none" strike="noStrike">
                <a:solidFill>
                  <a:srgbClr val="14263F"/>
                </a:solidFill>
                <a:latin typeface="Arial"/>
                <a:ea typeface="Arial"/>
                <a:cs typeface="Arial"/>
                <a:sym typeface="Arial"/>
              </a:rPr>
              <a:t>ensemble</a:t>
            </a:r>
            <a:endParaRPr sz="1100"/>
          </a:p>
        </p:txBody>
      </p:sp>
      <p:sp>
        <p:nvSpPr>
          <p:cNvPr id="154" name="Google Shape;154;p26"/>
          <p:cNvSpPr/>
          <p:nvPr/>
        </p:nvSpPr>
        <p:spPr>
          <a:xfrm>
            <a:off x="6899331" y="2681478"/>
            <a:ext cx="205745" cy="363474"/>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5" name="Google Shape;155;p26"/>
          <p:cNvSpPr/>
          <p:nvPr/>
        </p:nvSpPr>
        <p:spPr>
          <a:xfrm>
            <a:off x="7180517" y="2434590"/>
            <a:ext cx="1337346" cy="857250"/>
          </a:xfrm>
          <a:prstGeom prst="roundRect">
            <a:avLst>
              <a:gd fmla="val 16667" name="adj"/>
            </a:avLst>
          </a:prstGeom>
          <a:solidFill>
            <a:srgbClr val="E2EEFA"/>
          </a:solidFill>
          <a:ln cap="flat" cmpd="sng" w="19050">
            <a:solidFill>
              <a:srgbClr val="2D67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6" name="Google Shape;156;p26"/>
          <p:cNvSpPr txBox="1"/>
          <p:nvPr/>
        </p:nvSpPr>
        <p:spPr>
          <a:xfrm>
            <a:off x="7262816" y="2626614"/>
            <a:ext cx="1172749" cy="466344"/>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1000" u="none" cap="none" strike="noStrike">
                <a:solidFill>
                  <a:srgbClr val="14263F"/>
                </a:solidFill>
                <a:latin typeface="Arial"/>
                <a:ea typeface="Arial"/>
                <a:cs typeface="Arial"/>
                <a:sym typeface="Arial"/>
              </a:rPr>
              <a:t>Next-day</a:t>
            </a:r>
            <a:br>
              <a:rPr b="1" i="0" lang="en" sz="1000" u="none" cap="none" strike="noStrike">
                <a:solidFill>
                  <a:srgbClr val="14263F"/>
                </a:solidFill>
                <a:latin typeface="Arial"/>
                <a:ea typeface="Arial"/>
                <a:cs typeface="Arial"/>
                <a:sym typeface="Arial"/>
              </a:rPr>
            </a:br>
            <a:r>
              <a:rPr b="1" i="0" lang="en" sz="1000" u="none" cap="none" strike="noStrike">
                <a:solidFill>
                  <a:srgbClr val="14263F"/>
                </a:solidFill>
                <a:latin typeface="Arial"/>
                <a:ea typeface="Arial"/>
                <a:cs typeface="Arial"/>
                <a:sym typeface="Arial"/>
              </a:rPr>
              <a:t>temperature</a:t>
            </a:r>
            <a:endParaRPr sz="1100"/>
          </a:p>
        </p:txBody>
      </p:sp>
      <p:sp>
        <p:nvSpPr>
          <p:cNvPr id="157" name="Google Shape;157;p26"/>
          <p:cNvSpPr txBox="1"/>
          <p:nvPr/>
        </p:nvSpPr>
        <p:spPr>
          <a:xfrm>
            <a:off x="788691" y="3806190"/>
            <a:ext cx="7544001" cy="288036"/>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900" u="none" cap="none" strike="noStrike">
                <a:solidFill>
                  <a:srgbClr val="64748B"/>
                </a:solidFill>
                <a:latin typeface="Arial"/>
                <a:ea typeface="Arial"/>
                <a:cs typeface="Arial"/>
                <a:sym typeface="Arial"/>
              </a:rPr>
              <a:t>Evaluation is time-based so that future observations are kept separate from training data.</a:t>
            </a:r>
            <a:endParaRPr sz="1100"/>
          </a:p>
        </p:txBody>
      </p:sp>
      <p:sp>
        <p:nvSpPr>
          <p:cNvPr id="158" name="Google Shape;158;p26"/>
          <p:cNvSpPr txBox="1"/>
          <p:nvPr/>
        </p:nvSpPr>
        <p:spPr>
          <a:xfrm>
            <a:off x="445782" y="4855464"/>
            <a:ext cx="5829455" cy="1508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600" u="none" cap="none" strike="noStrike">
                <a:solidFill>
                  <a:srgbClr val="64748B"/>
                </a:solidFill>
                <a:latin typeface="Arial"/>
                <a:ea typeface="Arial"/>
                <a:cs typeface="Arial"/>
                <a:sym typeface="Arial"/>
              </a:rPr>
              <a:t>Rola Elabd  |  Weather Trend Forecasting</a:t>
            </a:r>
            <a:endParaRPr sz="1100"/>
          </a:p>
        </p:txBody>
      </p:sp>
      <p:sp>
        <p:nvSpPr>
          <p:cNvPr id="159" name="Google Shape;159;p26"/>
          <p:cNvSpPr txBox="1"/>
          <p:nvPr/>
        </p:nvSpPr>
        <p:spPr>
          <a:xfrm>
            <a:off x="8298401" y="4855464"/>
            <a:ext cx="377200" cy="150876"/>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 sz="600" u="none" cap="none" strike="noStrike">
                <a:solidFill>
                  <a:srgbClr val="64748B"/>
                </a:solidFill>
                <a:latin typeface="Arial"/>
                <a:ea typeface="Arial"/>
                <a:cs typeface="Arial"/>
                <a:sym typeface="Arial"/>
              </a:rPr>
              <a:t>2</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63" name="Shape 163"/>
        <p:cNvGrpSpPr/>
        <p:nvPr/>
      </p:nvGrpSpPr>
      <p:grpSpPr>
        <a:xfrm>
          <a:off x="0" y="0"/>
          <a:ext cx="0" cy="0"/>
          <a:chOff x="0" y="0"/>
          <a:chExt cx="0" cy="0"/>
        </a:xfrm>
      </p:grpSpPr>
      <p:sp>
        <p:nvSpPr>
          <p:cNvPr id="164" name="Google Shape;164;p27"/>
          <p:cNvSpPr txBox="1"/>
          <p:nvPr/>
        </p:nvSpPr>
        <p:spPr>
          <a:xfrm>
            <a:off x="480073" y="329184"/>
            <a:ext cx="7886910"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4263F"/>
                </a:solidFill>
                <a:latin typeface="Arial"/>
                <a:ea typeface="Arial"/>
                <a:cs typeface="Arial"/>
                <a:sym typeface="Arial"/>
              </a:rPr>
              <a:t>Dataset </a:t>
            </a:r>
            <a:r>
              <a:rPr b="1" lang="en" sz="2000">
                <a:solidFill>
                  <a:srgbClr val="14263F"/>
                </a:solidFill>
              </a:rPr>
              <a:t>Overview  </a:t>
            </a:r>
            <a:r>
              <a:rPr b="1" lang="en" sz="2000" u="sng">
                <a:solidFill>
                  <a:schemeClr val="hlink"/>
                </a:solidFill>
                <a:hlinkClick r:id="rId3"/>
              </a:rPr>
              <a:t>Go To Data</a:t>
            </a:r>
            <a:endParaRPr sz="1100"/>
          </a:p>
        </p:txBody>
      </p:sp>
      <p:sp>
        <p:nvSpPr>
          <p:cNvPr id="165" name="Google Shape;165;p27"/>
          <p:cNvSpPr txBox="1"/>
          <p:nvPr/>
        </p:nvSpPr>
        <p:spPr>
          <a:xfrm>
            <a:off x="493789" y="706374"/>
            <a:ext cx="7886910"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64748B"/>
                </a:solidFill>
                <a:latin typeface="Arial"/>
                <a:ea typeface="Arial"/>
                <a:cs typeface="Arial"/>
                <a:sym typeface="Arial"/>
              </a:rPr>
              <a:t>A global weather dataset spanning more than two years</a:t>
            </a:r>
            <a:endParaRPr sz="1100"/>
          </a:p>
        </p:txBody>
      </p:sp>
      <p:sp>
        <p:nvSpPr>
          <p:cNvPr id="166" name="Google Shape;166;p27"/>
          <p:cNvSpPr txBox="1"/>
          <p:nvPr/>
        </p:nvSpPr>
        <p:spPr>
          <a:xfrm>
            <a:off x="582946" y="1200150"/>
            <a:ext cx="3086182"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4263F"/>
                </a:solidFill>
                <a:latin typeface="Arial"/>
                <a:ea typeface="Arial"/>
                <a:cs typeface="Arial"/>
                <a:sym typeface="Arial"/>
              </a:rPr>
              <a:t>Dataset at a glance</a:t>
            </a:r>
            <a:endParaRPr sz="1100"/>
          </a:p>
        </p:txBody>
      </p:sp>
      <p:sp>
        <p:nvSpPr>
          <p:cNvPr id="167" name="Google Shape;167;p27"/>
          <p:cNvSpPr txBox="1"/>
          <p:nvPr/>
        </p:nvSpPr>
        <p:spPr>
          <a:xfrm>
            <a:off x="651524" y="1563625"/>
            <a:ext cx="10578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600" u="none" cap="none" strike="noStrike">
                <a:solidFill>
                  <a:srgbClr val="2D67B5"/>
                </a:solidFill>
                <a:latin typeface="Arial"/>
                <a:ea typeface="Arial"/>
                <a:cs typeface="Arial"/>
                <a:sym typeface="Arial"/>
              </a:rPr>
              <a:t>168,591</a:t>
            </a:r>
            <a:endParaRPr sz="1100"/>
          </a:p>
        </p:txBody>
      </p:sp>
      <p:sp>
        <p:nvSpPr>
          <p:cNvPr id="168" name="Google Shape;168;p27"/>
          <p:cNvSpPr txBox="1"/>
          <p:nvPr/>
        </p:nvSpPr>
        <p:spPr>
          <a:xfrm>
            <a:off x="1440218" y="1597913"/>
            <a:ext cx="2194619"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000" u="none" cap="none" strike="noStrike">
                <a:solidFill>
                  <a:srgbClr val="2D3748"/>
                </a:solidFill>
                <a:latin typeface="Arial"/>
                <a:ea typeface="Arial"/>
                <a:cs typeface="Arial"/>
                <a:sym typeface="Arial"/>
              </a:rPr>
              <a:t>observations</a:t>
            </a:r>
            <a:endParaRPr sz="1100"/>
          </a:p>
        </p:txBody>
      </p:sp>
      <p:sp>
        <p:nvSpPr>
          <p:cNvPr id="169" name="Google Shape;169;p27"/>
          <p:cNvSpPr txBox="1"/>
          <p:nvPr/>
        </p:nvSpPr>
        <p:spPr>
          <a:xfrm>
            <a:off x="651527" y="2057400"/>
            <a:ext cx="857273" cy="28803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600" u="none" cap="none" strike="noStrike">
                <a:solidFill>
                  <a:srgbClr val="2D67B5"/>
                </a:solidFill>
                <a:latin typeface="Arial"/>
                <a:ea typeface="Arial"/>
                <a:cs typeface="Arial"/>
                <a:sym typeface="Arial"/>
              </a:rPr>
              <a:t>41</a:t>
            </a:r>
            <a:endParaRPr sz="1100"/>
          </a:p>
        </p:txBody>
      </p:sp>
      <p:sp>
        <p:nvSpPr>
          <p:cNvPr id="170" name="Google Shape;170;p27"/>
          <p:cNvSpPr txBox="1"/>
          <p:nvPr/>
        </p:nvSpPr>
        <p:spPr>
          <a:xfrm>
            <a:off x="1440218" y="2091690"/>
            <a:ext cx="2194619"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000" u="none" cap="none" strike="noStrike">
                <a:solidFill>
                  <a:srgbClr val="2D3748"/>
                </a:solidFill>
                <a:latin typeface="Arial"/>
                <a:ea typeface="Arial"/>
                <a:cs typeface="Arial"/>
                <a:sym typeface="Arial"/>
              </a:rPr>
              <a:t>features</a:t>
            </a:r>
            <a:endParaRPr sz="1100"/>
          </a:p>
        </p:txBody>
      </p:sp>
      <p:sp>
        <p:nvSpPr>
          <p:cNvPr id="171" name="Google Shape;171;p27"/>
          <p:cNvSpPr txBox="1"/>
          <p:nvPr/>
        </p:nvSpPr>
        <p:spPr>
          <a:xfrm>
            <a:off x="651527" y="2551176"/>
            <a:ext cx="857273" cy="28803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600" u="none" cap="none" strike="noStrike">
                <a:solidFill>
                  <a:srgbClr val="2D67B5"/>
                </a:solidFill>
                <a:latin typeface="Arial"/>
                <a:ea typeface="Arial"/>
                <a:cs typeface="Arial"/>
                <a:sym typeface="Arial"/>
              </a:rPr>
              <a:t>268</a:t>
            </a:r>
            <a:endParaRPr sz="1100"/>
          </a:p>
        </p:txBody>
      </p:sp>
      <p:sp>
        <p:nvSpPr>
          <p:cNvPr id="172" name="Google Shape;172;p27"/>
          <p:cNvSpPr txBox="1"/>
          <p:nvPr/>
        </p:nvSpPr>
        <p:spPr>
          <a:xfrm>
            <a:off x="1440218" y="2585465"/>
            <a:ext cx="2194619"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000" u="none" cap="none" strike="noStrike">
                <a:solidFill>
                  <a:srgbClr val="2D3748"/>
                </a:solidFill>
                <a:latin typeface="Arial"/>
                <a:ea typeface="Arial"/>
                <a:cs typeface="Arial"/>
                <a:sym typeface="Arial"/>
              </a:rPr>
              <a:t>locations</a:t>
            </a:r>
            <a:endParaRPr sz="1100"/>
          </a:p>
        </p:txBody>
      </p:sp>
      <p:sp>
        <p:nvSpPr>
          <p:cNvPr id="173" name="Google Shape;173;p27"/>
          <p:cNvSpPr txBox="1"/>
          <p:nvPr/>
        </p:nvSpPr>
        <p:spPr>
          <a:xfrm>
            <a:off x="651527" y="3044951"/>
            <a:ext cx="857273" cy="28803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600" u="none" cap="none" strike="noStrike">
                <a:solidFill>
                  <a:srgbClr val="2D67B5"/>
                </a:solidFill>
                <a:latin typeface="Arial"/>
                <a:ea typeface="Arial"/>
                <a:cs typeface="Arial"/>
                <a:sym typeface="Arial"/>
              </a:rPr>
              <a:t>191</a:t>
            </a:r>
            <a:endParaRPr sz="1100"/>
          </a:p>
        </p:txBody>
      </p:sp>
      <p:sp>
        <p:nvSpPr>
          <p:cNvPr id="174" name="Google Shape;174;p27"/>
          <p:cNvSpPr txBox="1"/>
          <p:nvPr/>
        </p:nvSpPr>
        <p:spPr>
          <a:xfrm>
            <a:off x="1440218" y="3079241"/>
            <a:ext cx="2194619"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000" u="none" cap="none" strike="noStrike">
                <a:solidFill>
                  <a:srgbClr val="2D3748"/>
                </a:solidFill>
                <a:latin typeface="Arial"/>
                <a:ea typeface="Arial"/>
                <a:cs typeface="Arial"/>
                <a:sym typeface="Arial"/>
              </a:rPr>
              <a:t>countries after cleaning</a:t>
            </a:r>
            <a:endParaRPr sz="1100"/>
          </a:p>
        </p:txBody>
      </p:sp>
      <p:sp>
        <p:nvSpPr>
          <p:cNvPr id="175" name="Google Shape;175;p27"/>
          <p:cNvSpPr txBox="1"/>
          <p:nvPr/>
        </p:nvSpPr>
        <p:spPr>
          <a:xfrm>
            <a:off x="4492110" y="1200150"/>
            <a:ext cx="2880437"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4263F"/>
                </a:solidFill>
                <a:latin typeface="Arial"/>
                <a:ea typeface="Arial"/>
                <a:cs typeface="Arial"/>
                <a:sym typeface="Arial"/>
              </a:rPr>
              <a:t>Observation period</a:t>
            </a:r>
            <a:endParaRPr sz="1100"/>
          </a:p>
        </p:txBody>
      </p:sp>
      <p:sp>
        <p:nvSpPr>
          <p:cNvPr id="176" name="Google Shape;176;p27"/>
          <p:cNvSpPr txBox="1"/>
          <p:nvPr/>
        </p:nvSpPr>
        <p:spPr>
          <a:xfrm>
            <a:off x="4492110" y="1591056"/>
            <a:ext cx="3634837" cy="28803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500" u="none" cap="none" strike="noStrike">
                <a:solidFill>
                  <a:srgbClr val="238589"/>
                </a:solidFill>
                <a:latin typeface="Arial"/>
                <a:ea typeface="Arial"/>
                <a:cs typeface="Arial"/>
                <a:sym typeface="Arial"/>
              </a:rPr>
              <a:t>16 May 2024 → 1 October 2026</a:t>
            </a:r>
            <a:endParaRPr sz="1100"/>
          </a:p>
        </p:txBody>
      </p:sp>
      <p:sp>
        <p:nvSpPr>
          <p:cNvPr id="177" name="Google Shape;177;p27"/>
          <p:cNvSpPr txBox="1"/>
          <p:nvPr/>
        </p:nvSpPr>
        <p:spPr>
          <a:xfrm>
            <a:off x="582946" y="3538714"/>
            <a:ext cx="23319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4263F"/>
                </a:solidFill>
                <a:latin typeface="Arial"/>
                <a:ea typeface="Arial"/>
                <a:cs typeface="Arial"/>
                <a:sym typeface="Arial"/>
              </a:rPr>
              <a:t>Forecasting setup</a:t>
            </a:r>
            <a:endParaRPr sz="1100"/>
          </a:p>
        </p:txBody>
      </p:sp>
      <p:sp>
        <p:nvSpPr>
          <p:cNvPr id="178" name="Google Shape;178;p27"/>
          <p:cNvSpPr txBox="1"/>
          <p:nvPr/>
        </p:nvSpPr>
        <p:spPr>
          <a:xfrm>
            <a:off x="582946" y="3826764"/>
            <a:ext cx="7475419" cy="44577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100" u="none" cap="none" strike="noStrike">
                <a:solidFill>
                  <a:srgbClr val="2D3748"/>
                </a:solidFill>
                <a:latin typeface="Arial"/>
                <a:ea typeface="Arial"/>
                <a:cs typeface="Arial"/>
                <a:sym typeface="Arial"/>
              </a:rPr>
              <a:t>For each location, the target is the temperature at the next observation, approximately 24 hours later.</a:t>
            </a:r>
            <a:endParaRPr sz="1100"/>
          </a:p>
        </p:txBody>
      </p:sp>
      <p:sp>
        <p:nvSpPr>
          <p:cNvPr id="179" name="Google Shape;179;p27"/>
          <p:cNvSpPr txBox="1"/>
          <p:nvPr/>
        </p:nvSpPr>
        <p:spPr>
          <a:xfrm>
            <a:off x="582946" y="4423410"/>
            <a:ext cx="7475419"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64748B"/>
                </a:solidFill>
                <a:latin typeface="Arial"/>
                <a:ea typeface="Arial"/>
                <a:cs typeface="Arial"/>
                <a:sym typeface="Arial"/>
              </a:rPr>
              <a:t>Evaluation uses chronological train / validation / test splits.</a:t>
            </a:r>
            <a:endParaRPr sz="1100"/>
          </a:p>
        </p:txBody>
      </p:sp>
      <p:sp>
        <p:nvSpPr>
          <p:cNvPr id="180" name="Google Shape;180;p27"/>
          <p:cNvSpPr txBox="1"/>
          <p:nvPr/>
        </p:nvSpPr>
        <p:spPr>
          <a:xfrm>
            <a:off x="445782" y="4855464"/>
            <a:ext cx="5829455" cy="1508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600" u="none" cap="none" strike="noStrike">
                <a:solidFill>
                  <a:srgbClr val="64748B"/>
                </a:solidFill>
                <a:latin typeface="Arial"/>
                <a:ea typeface="Arial"/>
                <a:cs typeface="Arial"/>
                <a:sym typeface="Arial"/>
              </a:rPr>
              <a:t>Rola Elabd  |  Weather Trend Forecasting</a:t>
            </a:r>
            <a:endParaRPr sz="1100"/>
          </a:p>
        </p:txBody>
      </p:sp>
      <p:sp>
        <p:nvSpPr>
          <p:cNvPr id="181" name="Google Shape;181;p27"/>
          <p:cNvSpPr txBox="1"/>
          <p:nvPr/>
        </p:nvSpPr>
        <p:spPr>
          <a:xfrm>
            <a:off x="8298401" y="4855464"/>
            <a:ext cx="377200" cy="150876"/>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 sz="600" u="none" cap="none" strike="noStrike">
                <a:solidFill>
                  <a:srgbClr val="64748B"/>
                </a:solidFill>
                <a:latin typeface="Arial"/>
                <a:ea typeface="Arial"/>
                <a:cs typeface="Arial"/>
                <a:sym typeface="Arial"/>
              </a:rPr>
              <a:t>3</a:t>
            </a:r>
            <a:endParaRPr sz="1100"/>
          </a:p>
        </p:txBody>
      </p:sp>
      <p:sp>
        <p:nvSpPr>
          <p:cNvPr id="182" name="Google Shape;182;p27"/>
          <p:cNvSpPr txBox="1"/>
          <p:nvPr/>
        </p:nvSpPr>
        <p:spPr>
          <a:xfrm>
            <a:off x="4492135" y="2041125"/>
            <a:ext cx="28803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300">
                <a:solidFill>
                  <a:srgbClr val="14263F"/>
                </a:solidFill>
              </a:rPr>
              <a:t>Features Overview</a:t>
            </a:r>
            <a:endParaRPr sz="1100"/>
          </a:p>
        </p:txBody>
      </p:sp>
      <p:sp>
        <p:nvSpPr>
          <p:cNvPr id="183" name="Google Shape;183;p27"/>
          <p:cNvSpPr txBox="1"/>
          <p:nvPr/>
        </p:nvSpPr>
        <p:spPr>
          <a:xfrm>
            <a:off x="4492102" y="2367975"/>
            <a:ext cx="28005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000">
                <a:solidFill>
                  <a:srgbClr val="2D3748"/>
                </a:solidFill>
              </a:rPr>
              <a:t>Features vary from </a:t>
            </a:r>
            <a:r>
              <a:rPr b="1" lang="en" sz="1000">
                <a:solidFill>
                  <a:srgbClr val="2D3748"/>
                </a:solidFill>
              </a:rPr>
              <a:t>Weather Variables,</a:t>
            </a:r>
            <a:r>
              <a:rPr lang="en" sz="1000">
                <a:solidFill>
                  <a:srgbClr val="2D3748"/>
                </a:solidFill>
              </a:rPr>
              <a:t> </a:t>
            </a:r>
            <a:r>
              <a:rPr b="1" lang="en" sz="1000">
                <a:solidFill>
                  <a:srgbClr val="2D3748"/>
                </a:solidFill>
              </a:rPr>
              <a:t>Air Quality Variables</a:t>
            </a:r>
            <a:r>
              <a:rPr lang="en" sz="1000">
                <a:solidFill>
                  <a:srgbClr val="2D3748"/>
                </a:solidFill>
              </a:rPr>
              <a:t>, </a:t>
            </a:r>
            <a:r>
              <a:rPr b="1" lang="en" sz="1000">
                <a:solidFill>
                  <a:srgbClr val="2D3748"/>
                </a:solidFill>
              </a:rPr>
              <a:t>Astronomical variables,Time variables</a:t>
            </a:r>
            <a:r>
              <a:rPr lang="en" sz="1000">
                <a:solidFill>
                  <a:srgbClr val="2D3748"/>
                </a:solidFill>
              </a:rPr>
              <a:t>, and</a:t>
            </a:r>
            <a:r>
              <a:rPr b="1" lang="en" sz="1000">
                <a:solidFill>
                  <a:srgbClr val="2D3748"/>
                </a:solidFill>
              </a:rPr>
              <a:t> Location variables.</a:t>
            </a:r>
            <a:endParaRPr b="1"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87" name="Shape 187"/>
        <p:cNvGrpSpPr/>
        <p:nvPr/>
      </p:nvGrpSpPr>
      <p:grpSpPr>
        <a:xfrm>
          <a:off x="0" y="0"/>
          <a:ext cx="0" cy="0"/>
          <a:chOff x="0" y="0"/>
          <a:chExt cx="0" cy="0"/>
        </a:xfrm>
      </p:grpSpPr>
      <p:pic>
        <p:nvPicPr>
          <p:cNvPr descr="a_wide_ultra_realistic_high_resolution_photograp.png" id="188" name="Google Shape;188;p28"/>
          <p:cNvPicPr preferRelativeResize="0"/>
          <p:nvPr/>
        </p:nvPicPr>
        <p:blipFill rotWithShape="1">
          <a:blip r:embed="rId3">
            <a:alphaModFix/>
          </a:blip>
          <a:srcRect b="0" l="0" r="0" t="0"/>
          <a:stretch/>
        </p:blipFill>
        <p:spPr>
          <a:xfrm>
            <a:off x="0" y="0"/>
            <a:ext cx="9143771" cy="5143499"/>
          </a:xfrm>
          <a:prstGeom prst="rect">
            <a:avLst/>
          </a:prstGeom>
          <a:noFill/>
          <a:ln>
            <a:noFill/>
          </a:ln>
        </p:spPr>
      </p:pic>
      <p:sp>
        <p:nvSpPr>
          <p:cNvPr id="189" name="Google Shape;189;p28"/>
          <p:cNvSpPr/>
          <p:nvPr/>
        </p:nvSpPr>
        <p:spPr>
          <a:xfrm>
            <a:off x="0" y="0"/>
            <a:ext cx="9143700" cy="5143500"/>
          </a:xfrm>
          <a:prstGeom prst="rect">
            <a:avLst/>
          </a:prstGeom>
          <a:solidFill>
            <a:srgbClr val="14263F">
              <a:alpha val="32940"/>
            </a:srgbClr>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0" name="Google Shape;190;p28"/>
          <p:cNvSpPr txBox="1"/>
          <p:nvPr/>
        </p:nvSpPr>
        <p:spPr>
          <a:xfrm>
            <a:off x="1899450" y="2213850"/>
            <a:ext cx="5345100" cy="715800"/>
          </a:xfrm>
          <a:prstGeom prst="rect">
            <a:avLst/>
          </a:prstGeom>
          <a:noFill/>
          <a:ln>
            <a:noFill/>
          </a:ln>
          <a:effectLst>
            <a:outerShdw blurRad="100013" rotWithShape="0" algn="bl" dir="8040000" dist="85725">
              <a:srgbClr val="000000">
                <a:alpha val="94000"/>
              </a:srgbClr>
            </a:outerShdw>
          </a:effectLst>
        </p:spPr>
        <p:txBody>
          <a:bodyPr anchorCtr="0" anchor="t" bIns="34275" lIns="68575" spcFirstLastPara="1" rIns="68575" wrap="square" tIns="34275">
            <a:spAutoFit/>
          </a:bodyPr>
          <a:lstStyle/>
          <a:p>
            <a:pPr indent="0" lvl="0" marL="0" marR="0" rtl="0" algn="ctr">
              <a:spcBef>
                <a:spcPts val="0"/>
              </a:spcBef>
              <a:spcAft>
                <a:spcPts val="0"/>
              </a:spcAft>
              <a:buNone/>
            </a:pPr>
            <a:r>
              <a:rPr b="1" lang="en" sz="3200">
                <a:solidFill>
                  <a:srgbClr val="FFFFFF"/>
                </a:solidFill>
              </a:rPr>
              <a:t>Exploratory Data Analysis</a:t>
            </a:r>
            <a:endParaRPr b="1" sz="3200">
              <a:solidFill>
                <a:srgbClr val="FFFFFF"/>
              </a:solidFill>
            </a:endParaRPr>
          </a:p>
          <a:p>
            <a:pPr indent="0" lvl="0" marL="0" marR="0" rtl="0" algn="ctr">
              <a:spcBef>
                <a:spcPts val="0"/>
              </a:spcBef>
              <a:spcAft>
                <a:spcPts val="0"/>
              </a:spcAft>
              <a:buNone/>
            </a:pPr>
            <a:r>
              <a:rPr b="1" lang="en" sz="1000">
                <a:solidFill>
                  <a:srgbClr val="FFFFFF"/>
                </a:solidFill>
              </a:rPr>
              <a:t>Displaying Just important Plots and Insights</a:t>
            </a:r>
            <a:endParaRPr b="1" sz="100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94" name="Shape 194"/>
        <p:cNvGrpSpPr/>
        <p:nvPr/>
      </p:nvGrpSpPr>
      <p:grpSpPr>
        <a:xfrm>
          <a:off x="0" y="0"/>
          <a:ext cx="0" cy="0"/>
          <a:chOff x="0" y="0"/>
          <a:chExt cx="0" cy="0"/>
        </a:xfrm>
      </p:grpSpPr>
      <p:sp>
        <p:nvSpPr>
          <p:cNvPr id="195" name="Google Shape;195;p29"/>
          <p:cNvSpPr txBox="1"/>
          <p:nvPr/>
        </p:nvSpPr>
        <p:spPr>
          <a:xfrm>
            <a:off x="480073" y="288036"/>
            <a:ext cx="7886910"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4263F"/>
                </a:solidFill>
                <a:latin typeface="Arial"/>
                <a:ea typeface="Arial"/>
                <a:cs typeface="Arial"/>
                <a:sym typeface="Arial"/>
              </a:rPr>
              <a:t>Temperature Patterns</a:t>
            </a:r>
            <a:endParaRPr sz="1100"/>
          </a:p>
        </p:txBody>
      </p:sp>
      <p:sp>
        <p:nvSpPr>
          <p:cNvPr id="196" name="Google Shape;196;p29"/>
          <p:cNvSpPr/>
          <p:nvPr/>
        </p:nvSpPr>
        <p:spPr>
          <a:xfrm>
            <a:off x="480073" y="768096"/>
            <a:ext cx="8195528" cy="493776"/>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7" name="Google Shape;197;p29"/>
          <p:cNvSpPr txBox="1"/>
          <p:nvPr/>
        </p:nvSpPr>
        <p:spPr>
          <a:xfrm>
            <a:off x="651527" y="891540"/>
            <a:ext cx="7852619" cy="21945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1100" u="none" cap="none" strike="noStrike">
                <a:solidFill>
                  <a:srgbClr val="14263F"/>
                </a:solidFill>
                <a:latin typeface="Arial"/>
                <a:ea typeface="Arial"/>
                <a:cs typeface="Arial"/>
                <a:sym typeface="Arial"/>
              </a:rPr>
              <a:t>Question: How does temperature vary over time, and how does the pattern differ between hemispheres?</a:t>
            </a:r>
            <a:endParaRPr sz="1100"/>
          </a:p>
        </p:txBody>
      </p:sp>
      <p:pic>
        <p:nvPicPr>
          <p:cNvPr descr="image(20260926-114443).png" id="198" name="Google Shape;198;p29"/>
          <p:cNvPicPr preferRelativeResize="0"/>
          <p:nvPr/>
        </p:nvPicPr>
        <p:blipFill rotWithShape="1">
          <a:blip r:embed="rId3">
            <a:alphaModFix/>
          </a:blip>
          <a:srcRect b="0" l="0" r="0" t="0"/>
          <a:stretch/>
        </p:blipFill>
        <p:spPr>
          <a:xfrm>
            <a:off x="5115231" y="1402452"/>
            <a:ext cx="3943455" cy="2571750"/>
          </a:xfrm>
          <a:prstGeom prst="rect">
            <a:avLst/>
          </a:prstGeom>
          <a:noFill/>
          <a:ln>
            <a:noFill/>
          </a:ln>
        </p:spPr>
      </p:pic>
      <p:sp>
        <p:nvSpPr>
          <p:cNvPr id="199" name="Google Shape;199;p29"/>
          <p:cNvSpPr/>
          <p:nvPr/>
        </p:nvSpPr>
        <p:spPr>
          <a:xfrm>
            <a:off x="493789" y="4114800"/>
            <a:ext cx="8126947" cy="534924"/>
          </a:xfrm>
          <a:prstGeom prst="roundRect">
            <a:avLst>
              <a:gd fmla="val 16667" name="adj"/>
            </a:avLst>
          </a:prstGeom>
          <a:solidFill>
            <a:srgbClr val="E8F2F9"/>
          </a:solidFill>
          <a:ln cap="flat" cmpd="sng" w="9525">
            <a:solidFill>
              <a:srgbClr val="2D67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0" name="Google Shape;200;p29"/>
          <p:cNvSpPr txBox="1"/>
          <p:nvPr/>
        </p:nvSpPr>
        <p:spPr>
          <a:xfrm>
            <a:off x="672102" y="4238244"/>
            <a:ext cx="7749747" cy="27432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0" i="0" lang="en" sz="900" u="none" cap="none" strike="noStrike">
                <a:solidFill>
                  <a:srgbClr val="2D3748"/>
                </a:solidFill>
                <a:latin typeface="Arial"/>
                <a:ea typeface="Arial"/>
                <a:cs typeface="Arial"/>
                <a:sym typeface="Arial"/>
              </a:rPr>
              <a:t>Takeaway: Temperature follows a clear seasonal cycle. Northern locations peak around June–August, while Southern locations peak around December–February, so global averages can hide important geographic differences.</a:t>
            </a:r>
            <a:endParaRPr sz="1100"/>
          </a:p>
        </p:txBody>
      </p:sp>
      <p:sp>
        <p:nvSpPr>
          <p:cNvPr id="201" name="Google Shape;201;p29"/>
          <p:cNvSpPr txBox="1"/>
          <p:nvPr/>
        </p:nvSpPr>
        <p:spPr>
          <a:xfrm>
            <a:off x="445782" y="4855464"/>
            <a:ext cx="5829455" cy="1508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600" u="none" cap="none" strike="noStrike">
                <a:solidFill>
                  <a:srgbClr val="64748B"/>
                </a:solidFill>
                <a:latin typeface="Arial"/>
                <a:ea typeface="Arial"/>
                <a:cs typeface="Arial"/>
                <a:sym typeface="Arial"/>
              </a:rPr>
              <a:t>Rola Elabd  |  Weather Trend Forecasting</a:t>
            </a:r>
            <a:endParaRPr sz="1100"/>
          </a:p>
        </p:txBody>
      </p:sp>
      <p:sp>
        <p:nvSpPr>
          <p:cNvPr id="202" name="Google Shape;202;p29"/>
          <p:cNvSpPr txBox="1"/>
          <p:nvPr/>
        </p:nvSpPr>
        <p:spPr>
          <a:xfrm>
            <a:off x="8298401" y="4855464"/>
            <a:ext cx="377200" cy="150876"/>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 sz="600" u="none" cap="none" strike="noStrike">
                <a:solidFill>
                  <a:srgbClr val="64748B"/>
                </a:solidFill>
                <a:latin typeface="Arial"/>
                <a:ea typeface="Arial"/>
                <a:cs typeface="Arial"/>
                <a:sym typeface="Arial"/>
              </a:rPr>
              <a:t>4</a:t>
            </a:r>
            <a:endParaRPr sz="1100"/>
          </a:p>
        </p:txBody>
      </p:sp>
      <p:pic>
        <p:nvPicPr>
          <p:cNvPr id="203" name="Google Shape;203;p29" title="Screenshot 2026-10-01 141312.png"/>
          <p:cNvPicPr preferRelativeResize="0"/>
          <p:nvPr/>
        </p:nvPicPr>
        <p:blipFill>
          <a:blip r:embed="rId4">
            <a:alphaModFix/>
          </a:blip>
          <a:stretch>
            <a:fillRect/>
          </a:stretch>
        </p:blipFill>
        <p:spPr>
          <a:xfrm>
            <a:off x="60325" y="1425525"/>
            <a:ext cx="5194850" cy="2342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07" name="Shape 207"/>
        <p:cNvGrpSpPr/>
        <p:nvPr/>
      </p:nvGrpSpPr>
      <p:grpSpPr>
        <a:xfrm>
          <a:off x="0" y="0"/>
          <a:ext cx="0" cy="0"/>
          <a:chOff x="0" y="0"/>
          <a:chExt cx="0" cy="0"/>
        </a:xfrm>
      </p:grpSpPr>
      <p:sp>
        <p:nvSpPr>
          <p:cNvPr id="208" name="Google Shape;208;p30"/>
          <p:cNvSpPr txBox="1"/>
          <p:nvPr/>
        </p:nvSpPr>
        <p:spPr>
          <a:xfrm>
            <a:off x="480073" y="288036"/>
            <a:ext cx="7886910"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4263F"/>
                </a:solidFill>
                <a:latin typeface="Arial"/>
                <a:ea typeface="Arial"/>
                <a:cs typeface="Arial"/>
                <a:sym typeface="Arial"/>
              </a:rPr>
              <a:t>Precipitation Patterns</a:t>
            </a:r>
            <a:endParaRPr sz="1100"/>
          </a:p>
        </p:txBody>
      </p:sp>
      <p:sp>
        <p:nvSpPr>
          <p:cNvPr id="209" name="Google Shape;209;p30"/>
          <p:cNvSpPr/>
          <p:nvPr/>
        </p:nvSpPr>
        <p:spPr>
          <a:xfrm>
            <a:off x="480073" y="768096"/>
            <a:ext cx="8195528" cy="493776"/>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0" name="Google Shape;210;p30"/>
          <p:cNvSpPr txBox="1"/>
          <p:nvPr/>
        </p:nvSpPr>
        <p:spPr>
          <a:xfrm>
            <a:off x="651527" y="891540"/>
            <a:ext cx="7852619" cy="21945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1100" u="none" cap="none" strike="noStrike">
                <a:solidFill>
                  <a:srgbClr val="14263F"/>
                </a:solidFill>
                <a:latin typeface="Arial"/>
                <a:ea typeface="Arial"/>
                <a:cs typeface="Arial"/>
                <a:sym typeface="Arial"/>
              </a:rPr>
              <a:t>Question: Does precipitation show seasonal patterns, and do those patterns differ geographically?</a:t>
            </a:r>
            <a:endParaRPr sz="1100"/>
          </a:p>
        </p:txBody>
      </p:sp>
      <p:sp>
        <p:nvSpPr>
          <p:cNvPr id="211" name="Google Shape;211;p30"/>
          <p:cNvSpPr txBox="1"/>
          <p:nvPr/>
        </p:nvSpPr>
        <p:spPr>
          <a:xfrm>
            <a:off x="5109346" y="1440180"/>
            <a:ext cx="2880437"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4263F"/>
                </a:solidFill>
                <a:latin typeface="Arial"/>
                <a:ea typeface="Arial"/>
                <a:cs typeface="Arial"/>
                <a:sym typeface="Arial"/>
              </a:rPr>
              <a:t>What stands out?</a:t>
            </a:r>
            <a:endParaRPr sz="1100"/>
          </a:p>
        </p:txBody>
      </p:sp>
      <p:sp>
        <p:nvSpPr>
          <p:cNvPr id="212" name="Google Shape;212;p30"/>
          <p:cNvSpPr txBox="1"/>
          <p:nvPr/>
        </p:nvSpPr>
        <p:spPr>
          <a:xfrm>
            <a:off x="5109421" y="1765846"/>
            <a:ext cx="1062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238589"/>
                </a:solidFill>
                <a:latin typeface="Arial"/>
                <a:ea typeface="Arial"/>
                <a:cs typeface="Arial"/>
                <a:sym typeface="Arial"/>
              </a:rPr>
              <a:t>67%</a:t>
            </a:r>
            <a:endParaRPr sz="1100"/>
          </a:p>
        </p:txBody>
      </p:sp>
      <p:sp>
        <p:nvSpPr>
          <p:cNvPr id="213" name="Google Shape;213;p30"/>
          <p:cNvSpPr txBox="1"/>
          <p:nvPr/>
        </p:nvSpPr>
        <p:spPr>
          <a:xfrm>
            <a:off x="6138073" y="1810512"/>
            <a:ext cx="2091746"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2D3748"/>
                </a:solidFill>
                <a:latin typeface="Arial"/>
                <a:ea typeface="Arial"/>
                <a:cs typeface="Arial"/>
                <a:sym typeface="Arial"/>
              </a:rPr>
              <a:t>of observations have no precipitation</a:t>
            </a:r>
            <a:endParaRPr sz="1100"/>
          </a:p>
        </p:txBody>
      </p:sp>
      <p:sp>
        <p:nvSpPr>
          <p:cNvPr id="214" name="Google Shape;214;p30"/>
          <p:cNvSpPr txBox="1"/>
          <p:nvPr/>
        </p:nvSpPr>
        <p:spPr>
          <a:xfrm>
            <a:off x="5109346" y="2331720"/>
            <a:ext cx="1063018"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238589"/>
                </a:solidFill>
                <a:latin typeface="Arial"/>
                <a:ea typeface="Arial"/>
                <a:cs typeface="Arial"/>
                <a:sym typeface="Arial"/>
              </a:rPr>
              <a:t>28.94</a:t>
            </a:r>
            <a:endParaRPr sz="1100"/>
          </a:p>
        </p:txBody>
      </p:sp>
      <p:sp>
        <p:nvSpPr>
          <p:cNvPr id="215" name="Google Shape;215;p30"/>
          <p:cNvSpPr txBox="1"/>
          <p:nvPr/>
        </p:nvSpPr>
        <p:spPr>
          <a:xfrm>
            <a:off x="6138073" y="2345436"/>
            <a:ext cx="2091746"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2D3748"/>
                </a:solidFill>
                <a:latin typeface="Arial"/>
                <a:ea typeface="Arial"/>
                <a:cs typeface="Arial"/>
                <a:sym typeface="Arial"/>
              </a:rPr>
              <a:t>precipitation skewness</a:t>
            </a:r>
            <a:endParaRPr sz="1100"/>
          </a:p>
        </p:txBody>
      </p:sp>
      <p:sp>
        <p:nvSpPr>
          <p:cNvPr id="216" name="Google Shape;216;p30"/>
          <p:cNvSpPr txBox="1"/>
          <p:nvPr/>
        </p:nvSpPr>
        <p:spPr>
          <a:xfrm>
            <a:off x="5109346" y="2866644"/>
            <a:ext cx="1063018"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238589"/>
                </a:solidFill>
                <a:latin typeface="Arial"/>
                <a:ea typeface="Arial"/>
                <a:cs typeface="Arial"/>
                <a:sym typeface="Arial"/>
              </a:rPr>
              <a:t>0.13 mm</a:t>
            </a:r>
            <a:endParaRPr sz="1100"/>
          </a:p>
        </p:txBody>
      </p:sp>
      <p:sp>
        <p:nvSpPr>
          <p:cNvPr id="217" name="Google Shape;217;p30"/>
          <p:cNvSpPr txBox="1"/>
          <p:nvPr/>
        </p:nvSpPr>
        <p:spPr>
          <a:xfrm>
            <a:off x="6138073" y="2880360"/>
            <a:ext cx="2091746"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2D3748"/>
                </a:solidFill>
                <a:latin typeface="Arial"/>
                <a:ea typeface="Arial"/>
                <a:cs typeface="Arial"/>
                <a:sym typeface="Arial"/>
              </a:rPr>
              <a:t>mean precipitation</a:t>
            </a:r>
            <a:endParaRPr sz="1100"/>
          </a:p>
        </p:txBody>
      </p:sp>
      <p:sp>
        <p:nvSpPr>
          <p:cNvPr id="218" name="Google Shape;218;p30"/>
          <p:cNvSpPr txBox="1"/>
          <p:nvPr/>
        </p:nvSpPr>
        <p:spPr>
          <a:xfrm>
            <a:off x="5109346" y="3401568"/>
            <a:ext cx="1063018"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rgbClr val="238589"/>
                </a:solidFill>
                <a:latin typeface="Arial"/>
                <a:ea typeface="Arial"/>
                <a:cs typeface="Arial"/>
                <a:sym typeface="Arial"/>
              </a:rPr>
              <a:t>74.52 mm</a:t>
            </a:r>
            <a:endParaRPr sz="1100"/>
          </a:p>
        </p:txBody>
      </p:sp>
      <p:sp>
        <p:nvSpPr>
          <p:cNvPr id="219" name="Google Shape;219;p30"/>
          <p:cNvSpPr txBox="1"/>
          <p:nvPr/>
        </p:nvSpPr>
        <p:spPr>
          <a:xfrm>
            <a:off x="6138073" y="3415284"/>
            <a:ext cx="2091746"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2D3748"/>
                </a:solidFill>
                <a:latin typeface="Arial"/>
                <a:ea typeface="Arial"/>
                <a:cs typeface="Arial"/>
                <a:sym typeface="Arial"/>
              </a:rPr>
              <a:t>maximum observed precipitation</a:t>
            </a:r>
            <a:endParaRPr sz="1100"/>
          </a:p>
        </p:txBody>
      </p:sp>
      <p:sp>
        <p:nvSpPr>
          <p:cNvPr id="220" name="Google Shape;220;p30"/>
          <p:cNvSpPr/>
          <p:nvPr/>
        </p:nvSpPr>
        <p:spPr>
          <a:xfrm>
            <a:off x="5040775" y="3922775"/>
            <a:ext cx="3531900" cy="1028700"/>
          </a:xfrm>
          <a:prstGeom prst="roundRect">
            <a:avLst>
              <a:gd fmla="val 16667" name="adj"/>
            </a:avLst>
          </a:prstGeom>
          <a:solidFill>
            <a:srgbClr val="E8F2F9"/>
          </a:solidFill>
          <a:ln cap="flat" cmpd="sng" w="9525">
            <a:solidFill>
              <a:srgbClr val="2D67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1" name="Google Shape;221;p30"/>
          <p:cNvSpPr txBox="1"/>
          <p:nvPr/>
        </p:nvSpPr>
        <p:spPr>
          <a:xfrm>
            <a:off x="5212229" y="4001628"/>
            <a:ext cx="3189000" cy="8082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0" i="0" lang="en" sz="800" u="none" cap="none" strike="noStrike">
                <a:solidFill>
                  <a:srgbClr val="2D3748"/>
                </a:solidFill>
                <a:latin typeface="Arial"/>
                <a:ea typeface="Arial"/>
                <a:cs typeface="Arial"/>
                <a:sym typeface="Arial"/>
              </a:rPr>
              <a:t>Takeaway: </a:t>
            </a:r>
            <a:r>
              <a:rPr lang="en" sz="800">
                <a:solidFill>
                  <a:srgbClr val="2D3748"/>
                </a:solidFill>
              </a:rPr>
              <a:t>Precipitation</a:t>
            </a:r>
            <a:r>
              <a:rPr b="0" i="0" lang="en" sz="800" u="none" cap="none" strike="noStrike">
                <a:solidFill>
                  <a:srgbClr val="2D3748"/>
                </a:solidFill>
                <a:latin typeface="Arial"/>
                <a:ea typeface="Arial"/>
                <a:cs typeface="Arial"/>
                <a:sym typeface="Arial"/>
              </a:rPr>
              <a:t> is recorded at the observation level rather than as a daily total.</a:t>
            </a:r>
            <a:endParaRPr b="0" i="0" sz="800" u="none" cap="none" strike="noStrike">
              <a:solidFill>
                <a:srgbClr val="2D3748"/>
              </a:solidFill>
              <a:latin typeface="Arial"/>
              <a:ea typeface="Arial"/>
              <a:cs typeface="Arial"/>
              <a:sym typeface="Arial"/>
            </a:endParaRPr>
          </a:p>
          <a:p>
            <a:pPr indent="0" lvl="0" marL="0" marR="0" rtl="0" algn="ctr">
              <a:spcBef>
                <a:spcPts val="0"/>
              </a:spcBef>
              <a:spcAft>
                <a:spcPts val="0"/>
              </a:spcAft>
              <a:buNone/>
            </a:pPr>
            <a:r>
              <a:rPr b="0" i="0" lang="en" sz="800" u="none" cap="none" strike="noStrike">
                <a:solidFill>
                  <a:srgbClr val="2D3748"/>
                </a:solidFill>
                <a:latin typeface="Arial"/>
                <a:ea typeface="Arial"/>
                <a:cs typeface="Arial"/>
                <a:sym typeface="Arial"/>
              </a:rPr>
              <a:t>Overall precipitation frequency changes modestly, but the hemisphere comparison reveals clearer seasonal differences. The strong right skew also means extreme rainfall values need to be interpreted carefully by using media</a:t>
            </a:r>
            <a:r>
              <a:rPr lang="en" sz="800">
                <a:solidFill>
                  <a:srgbClr val="2D3748"/>
                </a:solidFill>
              </a:rPr>
              <a:t>n instead of mean</a:t>
            </a:r>
            <a:r>
              <a:rPr b="0" i="0" lang="en" sz="800" u="none" cap="none" strike="noStrike">
                <a:solidFill>
                  <a:srgbClr val="2D3748"/>
                </a:solidFill>
                <a:latin typeface="Arial"/>
                <a:ea typeface="Arial"/>
                <a:cs typeface="Arial"/>
                <a:sym typeface="Arial"/>
              </a:rPr>
              <a:t>.</a:t>
            </a:r>
            <a:endParaRPr sz="1100"/>
          </a:p>
        </p:txBody>
      </p:sp>
      <p:sp>
        <p:nvSpPr>
          <p:cNvPr id="222" name="Google Shape;222;p30"/>
          <p:cNvSpPr txBox="1"/>
          <p:nvPr/>
        </p:nvSpPr>
        <p:spPr>
          <a:xfrm>
            <a:off x="445782" y="4855464"/>
            <a:ext cx="5829455" cy="1508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600" u="none" cap="none" strike="noStrike">
                <a:solidFill>
                  <a:srgbClr val="64748B"/>
                </a:solidFill>
                <a:latin typeface="Arial"/>
                <a:ea typeface="Arial"/>
                <a:cs typeface="Arial"/>
                <a:sym typeface="Arial"/>
              </a:rPr>
              <a:t>Rola Elabd  |  Weather Trend Forecasting</a:t>
            </a:r>
            <a:endParaRPr sz="1100"/>
          </a:p>
        </p:txBody>
      </p:sp>
      <p:sp>
        <p:nvSpPr>
          <p:cNvPr id="223" name="Google Shape;223;p30"/>
          <p:cNvSpPr txBox="1"/>
          <p:nvPr/>
        </p:nvSpPr>
        <p:spPr>
          <a:xfrm>
            <a:off x="8298401" y="4855464"/>
            <a:ext cx="377200" cy="150876"/>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 sz="600" u="none" cap="none" strike="noStrike">
                <a:solidFill>
                  <a:srgbClr val="64748B"/>
                </a:solidFill>
                <a:latin typeface="Arial"/>
                <a:ea typeface="Arial"/>
                <a:cs typeface="Arial"/>
                <a:sym typeface="Arial"/>
              </a:rPr>
              <a:t>5</a:t>
            </a:r>
            <a:endParaRPr sz="1100"/>
          </a:p>
        </p:txBody>
      </p:sp>
      <p:pic>
        <p:nvPicPr>
          <p:cNvPr id="224" name="Google Shape;224;p30" title="Screenshot 2026-10-01 141938.png"/>
          <p:cNvPicPr preferRelativeResize="0"/>
          <p:nvPr/>
        </p:nvPicPr>
        <p:blipFill>
          <a:blip r:embed="rId3">
            <a:alphaModFix/>
          </a:blip>
          <a:stretch>
            <a:fillRect/>
          </a:stretch>
        </p:blipFill>
        <p:spPr>
          <a:xfrm>
            <a:off x="317625" y="1414788"/>
            <a:ext cx="4419600" cy="3136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28" name="Shape 228"/>
        <p:cNvGrpSpPr/>
        <p:nvPr/>
      </p:nvGrpSpPr>
      <p:grpSpPr>
        <a:xfrm>
          <a:off x="0" y="0"/>
          <a:ext cx="0" cy="0"/>
          <a:chOff x="0" y="0"/>
          <a:chExt cx="0" cy="0"/>
        </a:xfrm>
      </p:grpSpPr>
      <p:sp>
        <p:nvSpPr>
          <p:cNvPr id="229" name="Google Shape;229;p31"/>
          <p:cNvSpPr txBox="1"/>
          <p:nvPr/>
        </p:nvSpPr>
        <p:spPr>
          <a:xfrm>
            <a:off x="480073" y="288036"/>
            <a:ext cx="7886910"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4263F"/>
                </a:solidFill>
                <a:latin typeface="Arial"/>
                <a:ea typeface="Arial"/>
                <a:cs typeface="Arial"/>
                <a:sym typeface="Arial"/>
              </a:rPr>
              <a:t>Weather Variable Relationships</a:t>
            </a:r>
            <a:endParaRPr sz="1100"/>
          </a:p>
        </p:txBody>
      </p:sp>
      <p:sp>
        <p:nvSpPr>
          <p:cNvPr id="230" name="Google Shape;230;p31"/>
          <p:cNvSpPr/>
          <p:nvPr/>
        </p:nvSpPr>
        <p:spPr>
          <a:xfrm>
            <a:off x="480073" y="768096"/>
            <a:ext cx="8195528" cy="493776"/>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1" name="Google Shape;231;p31"/>
          <p:cNvSpPr txBox="1"/>
          <p:nvPr/>
        </p:nvSpPr>
        <p:spPr>
          <a:xfrm>
            <a:off x="651527" y="891540"/>
            <a:ext cx="7852619" cy="21945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1100" u="none" cap="none" strike="noStrike">
                <a:solidFill>
                  <a:srgbClr val="14263F"/>
                </a:solidFill>
                <a:latin typeface="Arial"/>
                <a:ea typeface="Arial"/>
                <a:cs typeface="Arial"/>
                <a:sym typeface="Arial"/>
              </a:rPr>
              <a:t>Question: Which weather variables have the strongest relationships with temperature?</a:t>
            </a:r>
            <a:endParaRPr sz="1100"/>
          </a:p>
        </p:txBody>
      </p:sp>
      <p:pic>
        <p:nvPicPr>
          <p:cNvPr descr="image.png" id="232" name="Google Shape;232;p31"/>
          <p:cNvPicPr preferRelativeResize="0"/>
          <p:nvPr/>
        </p:nvPicPr>
        <p:blipFill rotWithShape="1">
          <a:blip r:embed="rId3">
            <a:alphaModFix/>
          </a:blip>
          <a:srcRect b="0" l="0" r="0" t="0"/>
          <a:stretch/>
        </p:blipFill>
        <p:spPr>
          <a:xfrm>
            <a:off x="480064" y="1337323"/>
            <a:ext cx="4972049" cy="3689603"/>
          </a:xfrm>
          <a:prstGeom prst="rect">
            <a:avLst/>
          </a:prstGeom>
          <a:noFill/>
          <a:ln>
            <a:noFill/>
          </a:ln>
        </p:spPr>
      </p:pic>
      <p:sp>
        <p:nvSpPr>
          <p:cNvPr id="233" name="Google Shape;233;p31"/>
          <p:cNvSpPr txBox="1"/>
          <p:nvPr/>
        </p:nvSpPr>
        <p:spPr>
          <a:xfrm>
            <a:off x="5726583" y="1495044"/>
            <a:ext cx="2606109"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4263F"/>
                </a:solidFill>
                <a:latin typeface="Arial"/>
                <a:ea typeface="Arial"/>
                <a:cs typeface="Arial"/>
                <a:sym typeface="Arial"/>
              </a:rPr>
              <a:t>Key relationships</a:t>
            </a:r>
            <a:endParaRPr sz="1100"/>
          </a:p>
        </p:txBody>
      </p:sp>
      <p:sp>
        <p:nvSpPr>
          <p:cNvPr id="234" name="Google Shape;234;p31"/>
          <p:cNvSpPr txBox="1"/>
          <p:nvPr/>
        </p:nvSpPr>
        <p:spPr>
          <a:xfrm>
            <a:off x="5726583" y="1865376"/>
            <a:ext cx="788691"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u="none" cap="none" strike="noStrike">
                <a:solidFill>
                  <a:srgbClr val="238589"/>
                </a:solidFill>
                <a:latin typeface="Arial"/>
                <a:ea typeface="Arial"/>
                <a:cs typeface="Arial"/>
                <a:sym typeface="Arial"/>
              </a:rPr>
              <a:t>r ≈ 0.98</a:t>
            </a:r>
            <a:endParaRPr sz="1100"/>
          </a:p>
        </p:txBody>
      </p:sp>
      <p:sp>
        <p:nvSpPr>
          <p:cNvPr id="235" name="Google Shape;235;p31"/>
          <p:cNvSpPr txBox="1"/>
          <p:nvPr/>
        </p:nvSpPr>
        <p:spPr>
          <a:xfrm>
            <a:off x="6480983" y="1858518"/>
            <a:ext cx="20232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Temperature and feels-like temperature are almost perfectly aligned.(won</a:t>
            </a:r>
            <a:r>
              <a:rPr lang="en" sz="800">
                <a:solidFill>
                  <a:srgbClr val="2D3748"/>
                </a:solidFill>
              </a:rPr>
              <a:t>’</a:t>
            </a:r>
            <a:r>
              <a:rPr b="0" i="0" lang="en" sz="800" u="none" cap="none" strike="noStrike">
                <a:solidFill>
                  <a:srgbClr val="2D3748"/>
                </a:solidFill>
                <a:latin typeface="Arial"/>
                <a:ea typeface="Arial"/>
                <a:cs typeface="Arial"/>
                <a:sym typeface="Arial"/>
              </a:rPr>
              <a:t>t use feels like in modeling)</a:t>
            </a:r>
            <a:endParaRPr sz="1100"/>
          </a:p>
        </p:txBody>
      </p:sp>
      <p:sp>
        <p:nvSpPr>
          <p:cNvPr id="236" name="Google Shape;236;p31"/>
          <p:cNvSpPr txBox="1"/>
          <p:nvPr/>
        </p:nvSpPr>
        <p:spPr>
          <a:xfrm>
            <a:off x="5726583" y="2468880"/>
            <a:ext cx="788691"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u="none" cap="none" strike="noStrike">
                <a:solidFill>
                  <a:srgbClr val="238589"/>
                </a:solidFill>
                <a:latin typeface="Arial"/>
                <a:ea typeface="Arial"/>
                <a:cs typeface="Arial"/>
                <a:sym typeface="Arial"/>
              </a:rPr>
              <a:t>r ≈ 0.92</a:t>
            </a:r>
            <a:endParaRPr sz="1100"/>
          </a:p>
        </p:txBody>
      </p:sp>
      <p:sp>
        <p:nvSpPr>
          <p:cNvPr id="237" name="Google Shape;237;p31"/>
          <p:cNvSpPr txBox="1"/>
          <p:nvPr/>
        </p:nvSpPr>
        <p:spPr>
          <a:xfrm>
            <a:off x="6480983" y="2462022"/>
            <a:ext cx="20232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Wind speed and gust speed are strongly related.(use one of them in modeling to avoid multicollinearity)</a:t>
            </a:r>
            <a:endParaRPr sz="1100"/>
          </a:p>
        </p:txBody>
      </p:sp>
      <p:sp>
        <p:nvSpPr>
          <p:cNvPr id="238" name="Google Shape;238;p31"/>
          <p:cNvSpPr txBox="1"/>
          <p:nvPr/>
        </p:nvSpPr>
        <p:spPr>
          <a:xfrm>
            <a:off x="5726583" y="3072384"/>
            <a:ext cx="788691"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u="none" cap="none" strike="noStrike">
                <a:solidFill>
                  <a:srgbClr val="238589"/>
                </a:solidFill>
                <a:latin typeface="Arial"/>
                <a:ea typeface="Arial"/>
                <a:cs typeface="Arial"/>
                <a:sym typeface="Arial"/>
              </a:rPr>
              <a:t>r ≈ 0.48</a:t>
            </a:r>
            <a:endParaRPr sz="1100"/>
          </a:p>
        </p:txBody>
      </p:sp>
      <p:sp>
        <p:nvSpPr>
          <p:cNvPr id="239" name="Google Shape;239;p31"/>
          <p:cNvSpPr txBox="1"/>
          <p:nvPr/>
        </p:nvSpPr>
        <p:spPr>
          <a:xfrm>
            <a:off x="6480983" y="3065526"/>
            <a:ext cx="2023164" cy="44577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Temperature has a moderate positive relationship with UV index.</a:t>
            </a:r>
            <a:endParaRPr sz="1100"/>
          </a:p>
        </p:txBody>
      </p:sp>
      <p:sp>
        <p:nvSpPr>
          <p:cNvPr id="240" name="Google Shape;240;p31"/>
          <p:cNvSpPr txBox="1"/>
          <p:nvPr/>
        </p:nvSpPr>
        <p:spPr>
          <a:xfrm>
            <a:off x="5726583" y="3675888"/>
            <a:ext cx="788691"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u="none" cap="none" strike="noStrike">
                <a:solidFill>
                  <a:srgbClr val="238589"/>
                </a:solidFill>
                <a:latin typeface="Arial"/>
                <a:ea typeface="Arial"/>
                <a:cs typeface="Arial"/>
                <a:sym typeface="Arial"/>
              </a:rPr>
              <a:t>r ≈ −0.53</a:t>
            </a:r>
            <a:endParaRPr sz="1100"/>
          </a:p>
        </p:txBody>
      </p:sp>
      <p:sp>
        <p:nvSpPr>
          <p:cNvPr id="241" name="Google Shape;241;p31"/>
          <p:cNvSpPr txBox="1"/>
          <p:nvPr/>
        </p:nvSpPr>
        <p:spPr>
          <a:xfrm>
            <a:off x="6480983" y="3669030"/>
            <a:ext cx="2023164" cy="44577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Humidity has a moderate negative relationship with UV index.</a:t>
            </a:r>
            <a:endParaRPr sz="1100"/>
          </a:p>
        </p:txBody>
      </p:sp>
      <p:sp>
        <p:nvSpPr>
          <p:cNvPr id="242" name="Google Shape;242;p31"/>
          <p:cNvSpPr/>
          <p:nvPr/>
        </p:nvSpPr>
        <p:spPr>
          <a:xfrm>
            <a:off x="5692292" y="4320540"/>
            <a:ext cx="2846146" cy="425196"/>
          </a:xfrm>
          <a:prstGeom prst="roundRect">
            <a:avLst>
              <a:gd fmla="val 16667" name="adj"/>
            </a:avLst>
          </a:prstGeom>
          <a:solidFill>
            <a:srgbClr val="E8F2F9"/>
          </a:solidFill>
          <a:ln cap="flat" cmpd="sng" w="9525">
            <a:solidFill>
              <a:srgbClr val="2D67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3" name="Google Shape;243;p31"/>
          <p:cNvSpPr txBox="1"/>
          <p:nvPr/>
        </p:nvSpPr>
        <p:spPr>
          <a:xfrm>
            <a:off x="5839772" y="4303562"/>
            <a:ext cx="2551200" cy="4386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0" i="0" lang="en" sz="800" u="none" cap="none" strike="noStrike">
                <a:solidFill>
                  <a:srgbClr val="2D3748"/>
                </a:solidFill>
                <a:latin typeface="Arial"/>
                <a:ea typeface="Arial"/>
                <a:cs typeface="Arial"/>
                <a:sym typeface="Arial"/>
              </a:rPr>
              <a:t>Takeaway: </a:t>
            </a:r>
            <a:r>
              <a:rPr lang="en" sz="800">
                <a:solidFill>
                  <a:srgbClr val="2D3748"/>
                </a:solidFill>
              </a:rPr>
              <a:t>Had an overview of what features would </a:t>
            </a:r>
            <a:r>
              <a:rPr lang="en" sz="800">
                <a:solidFill>
                  <a:srgbClr val="2D3748"/>
                </a:solidFill>
              </a:rPr>
              <a:t>benefit the modeling stage and what would need removing</a:t>
            </a:r>
            <a:endParaRPr sz="1100"/>
          </a:p>
        </p:txBody>
      </p:sp>
      <p:sp>
        <p:nvSpPr>
          <p:cNvPr id="244" name="Google Shape;244;p31"/>
          <p:cNvSpPr txBox="1"/>
          <p:nvPr/>
        </p:nvSpPr>
        <p:spPr>
          <a:xfrm>
            <a:off x="437107" y="4930889"/>
            <a:ext cx="58296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600" u="none" cap="none" strike="noStrike">
                <a:solidFill>
                  <a:srgbClr val="64748B"/>
                </a:solidFill>
                <a:latin typeface="Arial"/>
                <a:ea typeface="Arial"/>
                <a:cs typeface="Arial"/>
                <a:sym typeface="Arial"/>
              </a:rPr>
              <a:t>Rola Elabd  |  Weather Trend Forecasting</a:t>
            </a:r>
            <a:endParaRPr sz="1100"/>
          </a:p>
        </p:txBody>
      </p:sp>
      <p:sp>
        <p:nvSpPr>
          <p:cNvPr id="245" name="Google Shape;245;p31"/>
          <p:cNvSpPr txBox="1"/>
          <p:nvPr/>
        </p:nvSpPr>
        <p:spPr>
          <a:xfrm>
            <a:off x="8298401" y="4855464"/>
            <a:ext cx="377200" cy="150876"/>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 sz="600" u="none" cap="none" strike="noStrike">
                <a:solidFill>
                  <a:srgbClr val="64748B"/>
                </a:solidFill>
                <a:latin typeface="Arial"/>
                <a:ea typeface="Arial"/>
                <a:cs typeface="Arial"/>
                <a:sym typeface="Arial"/>
              </a:rPr>
              <a:t>6</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49" name="Shape 249"/>
        <p:cNvGrpSpPr/>
        <p:nvPr/>
      </p:nvGrpSpPr>
      <p:grpSpPr>
        <a:xfrm>
          <a:off x="0" y="0"/>
          <a:ext cx="0" cy="0"/>
          <a:chOff x="0" y="0"/>
          <a:chExt cx="0" cy="0"/>
        </a:xfrm>
      </p:grpSpPr>
      <p:sp>
        <p:nvSpPr>
          <p:cNvPr id="250" name="Google Shape;250;p32"/>
          <p:cNvSpPr txBox="1"/>
          <p:nvPr/>
        </p:nvSpPr>
        <p:spPr>
          <a:xfrm>
            <a:off x="480073" y="288036"/>
            <a:ext cx="802407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4263F"/>
                </a:solidFill>
                <a:latin typeface="Arial"/>
                <a:ea typeface="Arial"/>
                <a:cs typeface="Arial"/>
                <a:sym typeface="Arial"/>
              </a:rPr>
              <a:t>Air Quality &amp; Environmental Impact</a:t>
            </a:r>
            <a:endParaRPr sz="1100"/>
          </a:p>
        </p:txBody>
      </p:sp>
      <p:sp>
        <p:nvSpPr>
          <p:cNvPr id="251" name="Google Shape;251;p32"/>
          <p:cNvSpPr/>
          <p:nvPr/>
        </p:nvSpPr>
        <p:spPr>
          <a:xfrm>
            <a:off x="480073" y="768096"/>
            <a:ext cx="8195528" cy="493776"/>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2" name="Google Shape;252;p32"/>
          <p:cNvSpPr txBox="1"/>
          <p:nvPr/>
        </p:nvSpPr>
        <p:spPr>
          <a:xfrm>
            <a:off x="651527" y="891540"/>
            <a:ext cx="7852619" cy="21945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1100" u="none" cap="none" strike="noStrike">
                <a:solidFill>
                  <a:srgbClr val="14263F"/>
                </a:solidFill>
                <a:latin typeface="Arial"/>
                <a:ea typeface="Arial"/>
                <a:cs typeface="Arial"/>
                <a:sym typeface="Arial"/>
              </a:rPr>
              <a:t>Question: How are air pollutants associated with weather conditions, and do these patterns vary seasonally?</a:t>
            </a:r>
            <a:endParaRPr sz="1100"/>
          </a:p>
        </p:txBody>
      </p:sp>
      <p:pic>
        <p:nvPicPr>
          <p:cNvPr descr="image.png" id="253" name="Google Shape;253;p32"/>
          <p:cNvPicPr preferRelativeResize="0"/>
          <p:nvPr/>
        </p:nvPicPr>
        <p:blipFill rotWithShape="1">
          <a:blip r:embed="rId3">
            <a:alphaModFix/>
          </a:blip>
          <a:srcRect b="0" l="0" r="0" t="0"/>
          <a:stretch/>
        </p:blipFill>
        <p:spPr>
          <a:xfrm>
            <a:off x="466356" y="1385316"/>
            <a:ext cx="4903601" cy="3552444"/>
          </a:xfrm>
          <a:prstGeom prst="rect">
            <a:avLst/>
          </a:prstGeom>
          <a:noFill/>
          <a:ln>
            <a:noFill/>
          </a:ln>
        </p:spPr>
      </p:pic>
      <p:sp>
        <p:nvSpPr>
          <p:cNvPr id="254" name="Google Shape;254;p32"/>
          <p:cNvSpPr/>
          <p:nvPr/>
        </p:nvSpPr>
        <p:spPr>
          <a:xfrm>
            <a:off x="5568844" y="1405889"/>
            <a:ext cx="2983309" cy="754380"/>
          </a:xfrm>
          <a:prstGeom prst="roundRect">
            <a:avLst>
              <a:gd fmla="val 16667" name="adj"/>
            </a:avLst>
          </a:prstGeom>
          <a:solidFill>
            <a:srgbClr val="E8F2F9"/>
          </a:solidFill>
          <a:ln cap="flat" cmpd="sng" w="9525">
            <a:solidFill>
              <a:srgbClr val="2D67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5" name="Google Shape;255;p32"/>
          <p:cNvSpPr txBox="1"/>
          <p:nvPr/>
        </p:nvSpPr>
        <p:spPr>
          <a:xfrm>
            <a:off x="5747147" y="1488175"/>
            <a:ext cx="15621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2D67B5"/>
                </a:solidFill>
                <a:latin typeface="Arial"/>
                <a:ea typeface="Arial"/>
                <a:cs typeface="Arial"/>
                <a:sym typeface="Arial"/>
              </a:rPr>
              <a:t>Why Spearman?</a:t>
            </a:r>
            <a:endParaRPr sz="1100"/>
          </a:p>
        </p:txBody>
      </p:sp>
      <p:sp>
        <p:nvSpPr>
          <p:cNvPr id="256" name="Google Shape;256;p32"/>
          <p:cNvSpPr txBox="1"/>
          <p:nvPr/>
        </p:nvSpPr>
        <p:spPr>
          <a:xfrm>
            <a:off x="5757445" y="1659636"/>
            <a:ext cx="26061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Several pollutant and precipitation variables are strongly skewed. Spearman measures monotonic relationships without assuming a linear relationship.</a:t>
            </a:r>
            <a:endParaRPr sz="1100"/>
          </a:p>
        </p:txBody>
      </p:sp>
      <p:sp>
        <p:nvSpPr>
          <p:cNvPr id="257" name="Google Shape;257;p32"/>
          <p:cNvSpPr txBox="1"/>
          <p:nvPr/>
        </p:nvSpPr>
        <p:spPr>
          <a:xfrm>
            <a:off x="5568857" y="2313913"/>
            <a:ext cx="3177900" cy="377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14263F"/>
                </a:solidFill>
                <a:latin typeface="Arial"/>
                <a:ea typeface="Arial"/>
                <a:cs typeface="Arial"/>
                <a:sym typeface="Arial"/>
              </a:rPr>
              <a:t>What the analysis shows (</a:t>
            </a:r>
            <a:r>
              <a:rPr b="1" lang="en" sz="1000">
                <a:solidFill>
                  <a:srgbClr val="14263F"/>
                </a:solidFill>
              </a:rPr>
              <a:t>other plots can be found in the notebook</a:t>
            </a:r>
            <a:r>
              <a:rPr b="1" i="0" lang="en" sz="1000" u="none" cap="none" strike="noStrike">
                <a:solidFill>
                  <a:srgbClr val="14263F"/>
                </a:solidFill>
                <a:latin typeface="Arial"/>
                <a:ea typeface="Arial"/>
                <a:cs typeface="Arial"/>
                <a:sym typeface="Arial"/>
              </a:rPr>
              <a:t>)</a:t>
            </a:r>
            <a:endParaRPr sz="800"/>
          </a:p>
        </p:txBody>
      </p:sp>
      <p:sp>
        <p:nvSpPr>
          <p:cNvPr id="258" name="Google Shape;258;p32"/>
          <p:cNvSpPr txBox="1"/>
          <p:nvPr/>
        </p:nvSpPr>
        <p:spPr>
          <a:xfrm>
            <a:off x="5568850" y="2696779"/>
            <a:ext cx="720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00" u="none" cap="none" strike="noStrike">
                <a:solidFill>
                  <a:srgbClr val="238589"/>
                </a:solidFill>
                <a:latin typeface="Arial"/>
                <a:ea typeface="Arial"/>
                <a:cs typeface="Arial"/>
                <a:sym typeface="Arial"/>
              </a:rPr>
              <a:t>Ozone</a:t>
            </a:r>
            <a:endParaRPr sz="1100"/>
          </a:p>
        </p:txBody>
      </p:sp>
      <p:sp>
        <p:nvSpPr>
          <p:cNvPr id="259" name="Google Shape;259;p32"/>
          <p:cNvSpPr txBox="1"/>
          <p:nvPr/>
        </p:nvSpPr>
        <p:spPr>
          <a:xfrm>
            <a:off x="6378201" y="2693034"/>
            <a:ext cx="22974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positively associated with UV (ρ ≈ 0.36) and negatively associated with humidity (ρ ≈ −0.41).</a:t>
            </a:r>
            <a:endParaRPr sz="1100"/>
          </a:p>
        </p:txBody>
      </p:sp>
      <p:sp>
        <p:nvSpPr>
          <p:cNvPr id="260" name="Google Shape;260;p32"/>
          <p:cNvSpPr txBox="1"/>
          <p:nvPr/>
        </p:nvSpPr>
        <p:spPr>
          <a:xfrm>
            <a:off x="5568857" y="3100265"/>
            <a:ext cx="8094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00" u="none" cap="none" strike="noStrike">
                <a:solidFill>
                  <a:srgbClr val="238589"/>
                </a:solidFill>
                <a:latin typeface="Arial"/>
                <a:ea typeface="Arial"/>
                <a:cs typeface="Arial"/>
                <a:sym typeface="Arial"/>
              </a:rPr>
              <a:t>Particulates</a:t>
            </a:r>
            <a:endParaRPr sz="1100"/>
          </a:p>
        </p:txBody>
      </p:sp>
      <p:sp>
        <p:nvSpPr>
          <p:cNvPr id="261" name="Google Shape;261;p32"/>
          <p:cNvSpPr txBox="1"/>
          <p:nvPr/>
        </p:nvSpPr>
        <p:spPr>
          <a:xfrm>
            <a:off x="6378201" y="3096522"/>
            <a:ext cx="22974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PM2.5 and PM10 show negative associations with precipitation and several weather variables.</a:t>
            </a:r>
            <a:endParaRPr sz="1100"/>
          </a:p>
        </p:txBody>
      </p:sp>
      <p:sp>
        <p:nvSpPr>
          <p:cNvPr id="262" name="Google Shape;262;p32"/>
          <p:cNvSpPr txBox="1"/>
          <p:nvPr/>
        </p:nvSpPr>
        <p:spPr>
          <a:xfrm>
            <a:off x="5568857" y="3503759"/>
            <a:ext cx="8094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00" u="none" cap="none" strike="noStrike">
                <a:solidFill>
                  <a:srgbClr val="238589"/>
                </a:solidFill>
                <a:latin typeface="Arial"/>
                <a:ea typeface="Arial"/>
                <a:cs typeface="Arial"/>
                <a:sym typeface="Arial"/>
              </a:rPr>
              <a:t>Seasonality</a:t>
            </a:r>
            <a:endParaRPr sz="1100"/>
          </a:p>
        </p:txBody>
      </p:sp>
      <p:sp>
        <p:nvSpPr>
          <p:cNvPr id="263" name="Google Shape;263;p32"/>
          <p:cNvSpPr txBox="1"/>
          <p:nvPr/>
        </p:nvSpPr>
        <p:spPr>
          <a:xfrm>
            <a:off x="6378201" y="3500011"/>
            <a:ext cx="22974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PM2.5, PM10 and ozone follow different seasonal cycles across the two hemispheres.</a:t>
            </a:r>
            <a:endParaRPr sz="1100"/>
          </a:p>
        </p:txBody>
      </p:sp>
      <p:sp>
        <p:nvSpPr>
          <p:cNvPr id="264" name="Google Shape;264;p32"/>
          <p:cNvSpPr txBox="1"/>
          <p:nvPr/>
        </p:nvSpPr>
        <p:spPr>
          <a:xfrm>
            <a:off x="5568856" y="3907253"/>
            <a:ext cx="8571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00" u="none" cap="none" strike="noStrike">
                <a:solidFill>
                  <a:srgbClr val="238589"/>
                </a:solidFill>
                <a:latin typeface="Arial"/>
                <a:ea typeface="Arial"/>
                <a:cs typeface="Arial"/>
                <a:sym typeface="Arial"/>
              </a:rPr>
              <a:t>Precipitation</a:t>
            </a:r>
            <a:endParaRPr sz="1100"/>
          </a:p>
        </p:txBody>
      </p:sp>
      <p:sp>
        <p:nvSpPr>
          <p:cNvPr id="265" name="Google Shape;265;p32"/>
          <p:cNvSpPr txBox="1"/>
          <p:nvPr/>
        </p:nvSpPr>
        <p:spPr>
          <a:xfrm>
            <a:off x="6378201" y="3903500"/>
            <a:ext cx="22974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Observations with precipitation generally show lower particulate concentrations.</a:t>
            </a:r>
            <a:endParaRPr sz="1100"/>
          </a:p>
        </p:txBody>
      </p:sp>
      <p:sp>
        <p:nvSpPr>
          <p:cNvPr id="266" name="Google Shape;266;p32"/>
          <p:cNvSpPr/>
          <p:nvPr/>
        </p:nvSpPr>
        <p:spPr>
          <a:xfrm>
            <a:off x="5568900" y="4307006"/>
            <a:ext cx="2983200" cy="561900"/>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7" name="Google Shape;267;p32"/>
          <p:cNvSpPr txBox="1"/>
          <p:nvPr/>
        </p:nvSpPr>
        <p:spPr>
          <a:xfrm>
            <a:off x="5661450" y="4306988"/>
            <a:ext cx="2798100" cy="5619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14263F"/>
                </a:solidFill>
                <a:latin typeface="Arial"/>
                <a:ea typeface="Arial"/>
                <a:cs typeface="Arial"/>
                <a:sym typeface="Arial"/>
              </a:rPr>
              <a:t>These are associations, not evidence of causation.</a:t>
            </a:r>
            <a:br>
              <a:rPr b="1" i="0" lang="en" sz="800" u="none" cap="none" strike="noStrike">
                <a:solidFill>
                  <a:srgbClr val="14263F"/>
                </a:solidFill>
                <a:latin typeface="Arial"/>
                <a:ea typeface="Arial"/>
                <a:cs typeface="Arial"/>
                <a:sym typeface="Arial"/>
              </a:rPr>
            </a:br>
            <a:r>
              <a:rPr b="1" i="0" lang="en" sz="800" u="none" cap="none" strike="noStrike">
                <a:solidFill>
                  <a:srgbClr val="14263F"/>
                </a:solidFill>
                <a:latin typeface="Arial"/>
                <a:ea typeface="Arial"/>
                <a:cs typeface="Arial"/>
                <a:sym typeface="Arial"/>
              </a:rPr>
              <a:t>Even though they </a:t>
            </a:r>
            <a:r>
              <a:rPr b="1" lang="en" sz="800">
                <a:solidFill>
                  <a:srgbClr val="14263F"/>
                </a:solidFill>
              </a:rPr>
              <a:t>do not have much of a relation with </a:t>
            </a:r>
            <a:r>
              <a:rPr b="1" lang="en" sz="800">
                <a:solidFill>
                  <a:srgbClr val="14263F"/>
                </a:solidFill>
              </a:rPr>
              <a:t>temperature</a:t>
            </a:r>
            <a:r>
              <a:rPr b="1" lang="en" sz="800">
                <a:solidFill>
                  <a:srgbClr val="14263F"/>
                </a:solidFill>
              </a:rPr>
              <a:t> but will be used in the modeling experiments</a:t>
            </a:r>
            <a:endParaRPr sz="1100"/>
          </a:p>
        </p:txBody>
      </p:sp>
      <p:sp>
        <p:nvSpPr>
          <p:cNvPr id="268" name="Google Shape;268;p32"/>
          <p:cNvSpPr txBox="1"/>
          <p:nvPr/>
        </p:nvSpPr>
        <p:spPr>
          <a:xfrm>
            <a:off x="445782" y="4855464"/>
            <a:ext cx="5829455" cy="1508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600" u="none" cap="none" strike="noStrike">
                <a:solidFill>
                  <a:srgbClr val="64748B"/>
                </a:solidFill>
                <a:latin typeface="Arial"/>
                <a:ea typeface="Arial"/>
                <a:cs typeface="Arial"/>
                <a:sym typeface="Arial"/>
              </a:rPr>
              <a:t>Rola Elabd  |  Weather Trend Forecasting</a:t>
            </a:r>
            <a:endParaRPr sz="1100"/>
          </a:p>
        </p:txBody>
      </p:sp>
      <p:sp>
        <p:nvSpPr>
          <p:cNvPr id="269" name="Google Shape;269;p32"/>
          <p:cNvSpPr txBox="1"/>
          <p:nvPr/>
        </p:nvSpPr>
        <p:spPr>
          <a:xfrm>
            <a:off x="8298401" y="4855464"/>
            <a:ext cx="377200" cy="150876"/>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 sz="600" u="none" cap="none" strike="noStrike">
                <a:solidFill>
                  <a:srgbClr val="64748B"/>
                </a:solidFill>
                <a:latin typeface="Arial"/>
                <a:ea typeface="Arial"/>
                <a:cs typeface="Arial"/>
                <a:sym typeface="Arial"/>
              </a:rPr>
              <a:t>7</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73" name="Shape 273"/>
        <p:cNvGrpSpPr/>
        <p:nvPr/>
      </p:nvGrpSpPr>
      <p:grpSpPr>
        <a:xfrm>
          <a:off x="0" y="0"/>
          <a:ext cx="0" cy="0"/>
          <a:chOff x="0" y="0"/>
          <a:chExt cx="0" cy="0"/>
        </a:xfrm>
      </p:grpSpPr>
      <p:sp>
        <p:nvSpPr>
          <p:cNvPr id="274" name="Google Shape;274;p33"/>
          <p:cNvSpPr txBox="1"/>
          <p:nvPr/>
        </p:nvSpPr>
        <p:spPr>
          <a:xfrm>
            <a:off x="480073" y="288036"/>
            <a:ext cx="802407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4263F"/>
                </a:solidFill>
                <a:latin typeface="Arial"/>
                <a:ea typeface="Arial"/>
                <a:cs typeface="Arial"/>
                <a:sym typeface="Arial"/>
              </a:rPr>
              <a:t>Anomaly Detection &amp; Data Quality</a:t>
            </a:r>
            <a:endParaRPr sz="1100"/>
          </a:p>
        </p:txBody>
      </p:sp>
      <p:sp>
        <p:nvSpPr>
          <p:cNvPr id="275" name="Google Shape;275;p33"/>
          <p:cNvSpPr/>
          <p:nvPr/>
        </p:nvSpPr>
        <p:spPr>
          <a:xfrm>
            <a:off x="480073" y="768096"/>
            <a:ext cx="8195528" cy="493776"/>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6" name="Google Shape;276;p33"/>
          <p:cNvSpPr txBox="1"/>
          <p:nvPr/>
        </p:nvSpPr>
        <p:spPr>
          <a:xfrm>
            <a:off x="651527" y="891540"/>
            <a:ext cx="7852619" cy="21945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1100" u="none" cap="none" strike="noStrike">
                <a:solidFill>
                  <a:srgbClr val="14263F"/>
                </a:solidFill>
                <a:latin typeface="Arial"/>
                <a:ea typeface="Arial"/>
                <a:cs typeface="Arial"/>
                <a:sym typeface="Arial"/>
              </a:rPr>
              <a:t>Question: Which extreme observations are genuine weather events, and which indicate data-quality problems?</a:t>
            </a:r>
            <a:endParaRPr sz="1100"/>
          </a:p>
        </p:txBody>
      </p:sp>
      <p:sp>
        <p:nvSpPr>
          <p:cNvPr id="277" name="Google Shape;277;p33"/>
          <p:cNvSpPr txBox="1"/>
          <p:nvPr/>
        </p:nvSpPr>
        <p:spPr>
          <a:xfrm>
            <a:off x="514364" y="1440180"/>
            <a:ext cx="3806291" cy="26060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4263F"/>
                </a:solidFill>
                <a:latin typeface="Arial"/>
                <a:ea typeface="Arial"/>
                <a:cs typeface="Arial"/>
                <a:sym typeface="Arial"/>
              </a:rPr>
              <a:t>IQR screening was only a first-pass check</a:t>
            </a:r>
            <a:endParaRPr sz="1100"/>
          </a:p>
        </p:txBody>
      </p:sp>
      <p:sp>
        <p:nvSpPr>
          <p:cNvPr id="278" name="Google Shape;278;p33"/>
          <p:cNvSpPr txBox="1"/>
          <p:nvPr/>
        </p:nvSpPr>
        <p:spPr>
          <a:xfrm>
            <a:off x="514364" y="1748790"/>
            <a:ext cx="3806291" cy="4937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2D3748"/>
                </a:solidFill>
                <a:latin typeface="Arial"/>
                <a:ea typeface="Arial"/>
                <a:cs typeface="Arial"/>
                <a:sym typeface="Arial"/>
              </a:rPr>
              <a:t>Extreme values were investigated rather than removed automatically. This was important because unusual weather and pollution measurements can still be valid.</a:t>
            </a:r>
            <a:endParaRPr sz="1100"/>
          </a:p>
        </p:txBody>
      </p:sp>
      <p:sp>
        <p:nvSpPr>
          <p:cNvPr id="279" name="Google Shape;279;p33"/>
          <p:cNvSpPr txBox="1"/>
          <p:nvPr/>
        </p:nvSpPr>
        <p:spPr>
          <a:xfrm>
            <a:off x="514364" y="2280285"/>
            <a:ext cx="34290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u="none" cap="none" strike="noStrike">
                <a:solidFill>
                  <a:srgbClr val="14263F"/>
                </a:solidFill>
                <a:latin typeface="Arial"/>
                <a:ea typeface="Arial"/>
                <a:cs typeface="Arial"/>
                <a:sym typeface="Arial"/>
              </a:rPr>
              <a:t>Examples requir</a:t>
            </a:r>
            <a:r>
              <a:rPr b="1" lang="en" sz="1200">
                <a:solidFill>
                  <a:srgbClr val="14263F"/>
                </a:solidFill>
              </a:rPr>
              <a:t>ed</a:t>
            </a:r>
            <a:r>
              <a:rPr b="1" i="0" lang="en" sz="1200" u="none" cap="none" strike="noStrike">
                <a:solidFill>
                  <a:srgbClr val="14263F"/>
                </a:solidFill>
                <a:latin typeface="Arial"/>
                <a:ea typeface="Arial"/>
                <a:cs typeface="Arial"/>
                <a:sym typeface="Arial"/>
              </a:rPr>
              <a:t> investigation</a:t>
            </a:r>
            <a:endParaRPr sz="1100"/>
          </a:p>
        </p:txBody>
      </p:sp>
      <p:sp>
        <p:nvSpPr>
          <p:cNvPr id="280" name="Google Shape;280;p33"/>
          <p:cNvSpPr txBox="1"/>
          <p:nvPr/>
        </p:nvSpPr>
        <p:spPr>
          <a:xfrm>
            <a:off x="514364" y="2674620"/>
            <a:ext cx="768116" cy="19202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238589"/>
                </a:solidFill>
                <a:latin typeface="Arial"/>
                <a:ea typeface="Arial"/>
                <a:cs typeface="Arial"/>
                <a:sym typeface="Arial"/>
              </a:rPr>
              <a:t>Temperature</a:t>
            </a:r>
            <a:endParaRPr sz="1100"/>
          </a:p>
        </p:txBody>
      </p:sp>
      <p:sp>
        <p:nvSpPr>
          <p:cNvPr id="281" name="Google Shape;281;p33"/>
          <p:cNvSpPr txBox="1"/>
          <p:nvPr/>
        </p:nvSpPr>
        <p:spPr>
          <a:xfrm>
            <a:off x="1248189" y="2667762"/>
            <a:ext cx="3072466"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700" u="none" cap="none" strike="noStrike">
                <a:solidFill>
                  <a:srgbClr val="2D3748"/>
                </a:solidFill>
                <a:latin typeface="Arial"/>
                <a:ea typeface="Arial"/>
                <a:cs typeface="Arial"/>
                <a:sym typeface="Arial"/>
              </a:rPr>
              <a:t>79.3°C in Suva was inconsistent with surrounding observations → treated as a data-entry error.</a:t>
            </a:r>
            <a:endParaRPr sz="1100"/>
          </a:p>
        </p:txBody>
      </p:sp>
      <p:sp>
        <p:nvSpPr>
          <p:cNvPr id="282" name="Google Shape;282;p33"/>
          <p:cNvSpPr txBox="1"/>
          <p:nvPr/>
        </p:nvSpPr>
        <p:spPr>
          <a:xfrm>
            <a:off x="514364" y="3099815"/>
            <a:ext cx="768116" cy="19202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238589"/>
                </a:solidFill>
                <a:latin typeface="Arial"/>
                <a:ea typeface="Arial"/>
                <a:cs typeface="Arial"/>
                <a:sym typeface="Arial"/>
              </a:rPr>
              <a:t>Wind / gust</a:t>
            </a:r>
            <a:endParaRPr sz="1100"/>
          </a:p>
        </p:txBody>
      </p:sp>
      <p:sp>
        <p:nvSpPr>
          <p:cNvPr id="283" name="Google Shape;283;p33"/>
          <p:cNvSpPr txBox="1"/>
          <p:nvPr/>
        </p:nvSpPr>
        <p:spPr>
          <a:xfrm>
            <a:off x="1248189" y="3092958"/>
            <a:ext cx="3072466"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700" u="none" cap="none" strike="noStrike">
                <a:solidFill>
                  <a:srgbClr val="2D3748"/>
                </a:solidFill>
                <a:latin typeface="Arial"/>
                <a:ea typeface="Arial"/>
                <a:cs typeface="Arial"/>
                <a:sym typeface="Arial"/>
              </a:rPr>
              <a:t>Five implausibly high readings were inconsistent with surrounding weather → removed.</a:t>
            </a:r>
            <a:endParaRPr sz="1100"/>
          </a:p>
        </p:txBody>
      </p:sp>
      <p:sp>
        <p:nvSpPr>
          <p:cNvPr id="284" name="Google Shape;284;p33"/>
          <p:cNvSpPr txBox="1"/>
          <p:nvPr/>
        </p:nvSpPr>
        <p:spPr>
          <a:xfrm>
            <a:off x="514364" y="3525012"/>
            <a:ext cx="768116" cy="19202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238589"/>
                </a:solidFill>
                <a:latin typeface="Arial"/>
                <a:ea typeface="Arial"/>
                <a:cs typeface="Arial"/>
                <a:sym typeface="Arial"/>
              </a:rPr>
              <a:t>Pressure</a:t>
            </a:r>
            <a:endParaRPr sz="1100"/>
          </a:p>
        </p:txBody>
      </p:sp>
      <p:sp>
        <p:nvSpPr>
          <p:cNvPr id="285" name="Google Shape;285;p33"/>
          <p:cNvSpPr txBox="1"/>
          <p:nvPr/>
        </p:nvSpPr>
        <p:spPr>
          <a:xfrm>
            <a:off x="1248189" y="3518154"/>
            <a:ext cx="3072466"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700" u="none" cap="none" strike="noStrike">
                <a:solidFill>
                  <a:srgbClr val="2D3748"/>
                </a:solidFill>
                <a:latin typeface="Arial"/>
                <a:ea typeface="Arial"/>
                <a:cs typeface="Arial"/>
                <a:sym typeface="Arial"/>
              </a:rPr>
              <a:t>Two invalid readings (3000 and 3006 mb) → removed.</a:t>
            </a:r>
            <a:endParaRPr sz="1100"/>
          </a:p>
        </p:txBody>
      </p:sp>
      <p:sp>
        <p:nvSpPr>
          <p:cNvPr id="286" name="Google Shape;286;p33"/>
          <p:cNvSpPr txBox="1"/>
          <p:nvPr/>
        </p:nvSpPr>
        <p:spPr>
          <a:xfrm>
            <a:off x="514364" y="3950208"/>
            <a:ext cx="768116" cy="19202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238589"/>
                </a:solidFill>
                <a:latin typeface="Arial"/>
                <a:ea typeface="Arial"/>
                <a:cs typeface="Arial"/>
                <a:sym typeface="Arial"/>
              </a:rPr>
              <a:t>PM10</a:t>
            </a:r>
            <a:endParaRPr sz="1100"/>
          </a:p>
        </p:txBody>
      </p:sp>
      <p:sp>
        <p:nvSpPr>
          <p:cNvPr id="287" name="Google Shape;287;p33"/>
          <p:cNvSpPr txBox="1"/>
          <p:nvPr/>
        </p:nvSpPr>
        <p:spPr>
          <a:xfrm>
            <a:off x="1248189" y="3943350"/>
            <a:ext cx="3072466"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700" u="none" cap="none" strike="noStrike">
                <a:solidFill>
                  <a:srgbClr val="2D3748"/>
                </a:solidFill>
                <a:latin typeface="Arial"/>
                <a:ea typeface="Arial"/>
                <a:cs typeface="Arial"/>
                <a:sym typeface="Arial"/>
              </a:rPr>
              <a:t>Two negative PM10 values → removed.</a:t>
            </a:r>
            <a:endParaRPr sz="1100"/>
          </a:p>
        </p:txBody>
      </p:sp>
      <p:sp>
        <p:nvSpPr>
          <p:cNvPr id="288" name="Google Shape;288;p33"/>
          <p:cNvSpPr txBox="1"/>
          <p:nvPr/>
        </p:nvSpPr>
        <p:spPr>
          <a:xfrm>
            <a:off x="514364" y="4375404"/>
            <a:ext cx="768116" cy="19202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238589"/>
                </a:solidFill>
                <a:latin typeface="Arial"/>
                <a:ea typeface="Arial"/>
                <a:cs typeface="Arial"/>
                <a:sym typeface="Arial"/>
              </a:rPr>
              <a:t>Precipitation</a:t>
            </a:r>
            <a:endParaRPr sz="1100"/>
          </a:p>
        </p:txBody>
      </p:sp>
      <p:sp>
        <p:nvSpPr>
          <p:cNvPr id="289" name="Google Shape;289;p33"/>
          <p:cNvSpPr txBox="1"/>
          <p:nvPr/>
        </p:nvSpPr>
        <p:spPr>
          <a:xfrm>
            <a:off x="1248189" y="4368546"/>
            <a:ext cx="3072466"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700" u="none" cap="none" strike="noStrike">
                <a:solidFill>
                  <a:srgbClr val="2D3748"/>
                </a:solidFill>
                <a:latin typeface="Arial"/>
                <a:ea typeface="Arial"/>
                <a:cs typeface="Arial"/>
                <a:sym typeface="Arial"/>
              </a:rPr>
              <a:t>Highly skewed, but extreme rainy observations were supported by other conditions → retained.</a:t>
            </a:r>
            <a:endParaRPr sz="1100"/>
          </a:p>
        </p:txBody>
      </p:sp>
      <p:sp>
        <p:nvSpPr>
          <p:cNvPr id="290" name="Google Shape;290;p33"/>
          <p:cNvSpPr/>
          <p:nvPr/>
        </p:nvSpPr>
        <p:spPr>
          <a:xfrm>
            <a:off x="4594982" y="1440180"/>
            <a:ext cx="3943455" cy="3346704"/>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1" name="Google Shape;291;p33"/>
          <p:cNvSpPr txBox="1"/>
          <p:nvPr/>
        </p:nvSpPr>
        <p:spPr>
          <a:xfrm>
            <a:off x="4986153" y="1508729"/>
            <a:ext cx="34977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4263F"/>
                </a:solidFill>
                <a:latin typeface="Arial"/>
                <a:ea typeface="Arial"/>
                <a:cs typeface="Arial"/>
                <a:sym typeface="Arial"/>
              </a:rPr>
              <a:t>Date-specific temperature anomaly</a:t>
            </a:r>
            <a:endParaRPr sz="1100"/>
          </a:p>
        </p:txBody>
      </p:sp>
      <p:sp>
        <p:nvSpPr>
          <p:cNvPr id="292" name="Google Shape;292;p33"/>
          <p:cNvSpPr/>
          <p:nvPr/>
        </p:nvSpPr>
        <p:spPr>
          <a:xfrm>
            <a:off x="5867376" y="1838817"/>
            <a:ext cx="1261500" cy="219600"/>
          </a:xfrm>
          <a:prstGeom prst="roundRect">
            <a:avLst>
              <a:gd fmla="val 16667" name="adj"/>
            </a:avLst>
          </a:prstGeom>
          <a:solidFill>
            <a:srgbClr val="FAEEEE"/>
          </a:solidFill>
          <a:ln cap="flat" cmpd="sng" w="9525">
            <a:solidFill>
              <a:srgbClr val="AD3F3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3" name="Google Shape;293;p33"/>
          <p:cNvSpPr txBox="1"/>
          <p:nvPr/>
        </p:nvSpPr>
        <p:spPr>
          <a:xfrm>
            <a:off x="5795226" y="1807861"/>
            <a:ext cx="1405800" cy="1923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AD3F3F"/>
                </a:solidFill>
                <a:latin typeface="Arial"/>
                <a:ea typeface="Arial"/>
                <a:cs typeface="Arial"/>
                <a:sym typeface="Arial"/>
              </a:rPr>
              <a:t>17 August 2026</a:t>
            </a:r>
            <a:endParaRPr sz="800"/>
          </a:p>
        </p:txBody>
      </p:sp>
      <p:sp>
        <p:nvSpPr>
          <p:cNvPr id="294" name="Google Shape;294;p33"/>
          <p:cNvSpPr txBox="1"/>
          <p:nvPr/>
        </p:nvSpPr>
        <p:spPr>
          <a:xfrm>
            <a:off x="4800728" y="2144649"/>
            <a:ext cx="33948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2D3748"/>
                </a:solidFill>
                <a:latin typeface="Arial"/>
                <a:ea typeface="Arial"/>
                <a:cs typeface="Arial"/>
                <a:sym typeface="Arial"/>
              </a:rPr>
              <a:t>76 observations showed isolated temperature jumps greater than 10°C relative to both neighboring observations.</a:t>
            </a:r>
            <a:endParaRPr sz="1100"/>
          </a:p>
        </p:txBody>
      </p:sp>
      <p:sp>
        <p:nvSpPr>
          <p:cNvPr id="295" name="Google Shape;295;p33"/>
          <p:cNvSpPr txBox="1"/>
          <p:nvPr/>
        </p:nvSpPr>
        <p:spPr>
          <a:xfrm>
            <a:off x="4800728" y="3460871"/>
            <a:ext cx="33948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2D3748"/>
                </a:solidFill>
                <a:latin typeface="Arial"/>
                <a:ea typeface="Arial"/>
                <a:cs typeface="Arial"/>
                <a:sym typeface="Arial"/>
              </a:rPr>
              <a:t>The same pattern appeared across many unrelated locations on the same date, indicating a likely corrupted batch rather than normal weather variation.</a:t>
            </a:r>
            <a:endParaRPr sz="1100"/>
          </a:p>
        </p:txBody>
      </p:sp>
      <p:sp>
        <p:nvSpPr>
          <p:cNvPr id="296" name="Google Shape;296;p33"/>
          <p:cNvSpPr txBox="1"/>
          <p:nvPr/>
        </p:nvSpPr>
        <p:spPr>
          <a:xfrm>
            <a:off x="4800728" y="4091301"/>
            <a:ext cx="7887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238589"/>
                </a:solidFill>
                <a:latin typeface="Arial"/>
                <a:ea typeface="Arial"/>
                <a:cs typeface="Arial"/>
                <a:sym typeface="Arial"/>
              </a:rPr>
              <a:t>Correction</a:t>
            </a:r>
            <a:endParaRPr sz="1100"/>
          </a:p>
        </p:txBody>
      </p:sp>
      <p:sp>
        <p:nvSpPr>
          <p:cNvPr id="297" name="Google Shape;297;p33"/>
          <p:cNvSpPr txBox="1"/>
          <p:nvPr/>
        </p:nvSpPr>
        <p:spPr>
          <a:xfrm>
            <a:off x="5589437" y="4051827"/>
            <a:ext cx="27432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Only the identified temperature values were interpolated from the surrounding local pattern. The rest of each affected row was preserved.</a:t>
            </a:r>
            <a:endParaRPr sz="1100"/>
          </a:p>
        </p:txBody>
      </p:sp>
      <p:sp>
        <p:nvSpPr>
          <p:cNvPr id="298" name="Google Shape;298;p33"/>
          <p:cNvSpPr txBox="1"/>
          <p:nvPr/>
        </p:nvSpPr>
        <p:spPr>
          <a:xfrm>
            <a:off x="437132" y="4924045"/>
            <a:ext cx="58296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600" u="none" cap="none" strike="noStrike">
                <a:solidFill>
                  <a:srgbClr val="64748B"/>
                </a:solidFill>
                <a:latin typeface="Arial"/>
                <a:ea typeface="Arial"/>
                <a:cs typeface="Arial"/>
                <a:sym typeface="Arial"/>
              </a:rPr>
              <a:t>Rola Elabd  |  Weather Trend Forecasting</a:t>
            </a:r>
            <a:endParaRPr sz="1100"/>
          </a:p>
        </p:txBody>
      </p:sp>
      <p:sp>
        <p:nvSpPr>
          <p:cNvPr id="299" name="Google Shape;299;p33"/>
          <p:cNvSpPr txBox="1"/>
          <p:nvPr/>
        </p:nvSpPr>
        <p:spPr>
          <a:xfrm>
            <a:off x="8298401" y="5074920"/>
            <a:ext cx="377200" cy="123444"/>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 sz="600" u="none" cap="none" strike="noStrike">
                <a:solidFill>
                  <a:srgbClr val="64748B"/>
                </a:solidFill>
                <a:latin typeface="Arial"/>
                <a:ea typeface="Arial"/>
                <a:cs typeface="Arial"/>
                <a:sym typeface="Arial"/>
              </a:rPr>
              <a:t>8</a:t>
            </a:r>
            <a:endParaRPr sz="1100"/>
          </a:p>
        </p:txBody>
      </p:sp>
      <p:pic>
        <p:nvPicPr>
          <p:cNvPr id="300" name="Google Shape;300;p33"/>
          <p:cNvPicPr preferRelativeResize="0"/>
          <p:nvPr/>
        </p:nvPicPr>
        <p:blipFill>
          <a:blip r:embed="rId3">
            <a:alphaModFix/>
          </a:blip>
          <a:stretch>
            <a:fillRect/>
          </a:stretch>
        </p:blipFill>
        <p:spPr>
          <a:xfrm>
            <a:off x="4917562" y="2514737"/>
            <a:ext cx="3161126" cy="839975"/>
          </a:xfrm>
          <a:prstGeom prst="rect">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04" name="Shape 304"/>
        <p:cNvGrpSpPr/>
        <p:nvPr/>
      </p:nvGrpSpPr>
      <p:grpSpPr>
        <a:xfrm>
          <a:off x="0" y="0"/>
          <a:ext cx="0" cy="0"/>
          <a:chOff x="0" y="0"/>
          <a:chExt cx="0" cy="0"/>
        </a:xfrm>
      </p:grpSpPr>
      <p:sp>
        <p:nvSpPr>
          <p:cNvPr id="305" name="Google Shape;305;p34"/>
          <p:cNvSpPr txBox="1"/>
          <p:nvPr/>
        </p:nvSpPr>
        <p:spPr>
          <a:xfrm>
            <a:off x="480073" y="288036"/>
            <a:ext cx="802407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4263F"/>
                </a:solidFill>
                <a:latin typeface="Arial"/>
                <a:ea typeface="Arial"/>
                <a:cs typeface="Arial"/>
                <a:sym typeface="Arial"/>
              </a:rPr>
              <a:t>Spatial &amp; Geographical Patterns</a:t>
            </a:r>
            <a:endParaRPr sz="1100"/>
          </a:p>
        </p:txBody>
      </p:sp>
      <p:sp>
        <p:nvSpPr>
          <p:cNvPr id="306" name="Google Shape;306;p34"/>
          <p:cNvSpPr/>
          <p:nvPr/>
        </p:nvSpPr>
        <p:spPr>
          <a:xfrm>
            <a:off x="480073" y="768096"/>
            <a:ext cx="8195528" cy="493776"/>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07" name="Google Shape;307;p34"/>
          <p:cNvSpPr txBox="1"/>
          <p:nvPr/>
        </p:nvSpPr>
        <p:spPr>
          <a:xfrm>
            <a:off x="651527" y="891540"/>
            <a:ext cx="7852619" cy="21945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1100" u="none" cap="none" strike="noStrike">
                <a:solidFill>
                  <a:srgbClr val="14263F"/>
                </a:solidFill>
                <a:latin typeface="Arial"/>
                <a:ea typeface="Arial"/>
                <a:cs typeface="Arial"/>
                <a:sym typeface="Arial"/>
              </a:rPr>
              <a:t>Question: How does typical temperature vary geographically across the sampled locations?</a:t>
            </a:r>
            <a:endParaRPr sz="1100"/>
          </a:p>
        </p:txBody>
      </p:sp>
      <p:pic>
        <p:nvPicPr>
          <p:cNvPr descr="image.png" id="308" name="Google Shape;308;p34"/>
          <p:cNvPicPr preferRelativeResize="0"/>
          <p:nvPr/>
        </p:nvPicPr>
        <p:blipFill rotWithShape="1">
          <a:blip r:embed="rId3">
            <a:alphaModFix/>
          </a:blip>
          <a:srcRect b="0" l="0" r="0" t="0"/>
          <a:stretch/>
        </p:blipFill>
        <p:spPr>
          <a:xfrm>
            <a:off x="377200" y="1392173"/>
            <a:ext cx="4149090" cy="2420874"/>
          </a:xfrm>
          <a:prstGeom prst="rect">
            <a:avLst/>
          </a:prstGeom>
          <a:noFill/>
          <a:ln>
            <a:noFill/>
          </a:ln>
        </p:spPr>
      </p:pic>
      <p:pic>
        <p:nvPicPr>
          <p:cNvPr descr="newplot (1).png" id="309" name="Google Shape;309;p34"/>
          <p:cNvPicPr preferRelativeResize="0"/>
          <p:nvPr/>
        </p:nvPicPr>
        <p:blipFill rotWithShape="1">
          <a:blip r:embed="rId4">
            <a:alphaModFix/>
          </a:blip>
          <a:srcRect b="0" l="0" r="0" t="0"/>
          <a:stretch/>
        </p:blipFill>
        <p:spPr>
          <a:xfrm>
            <a:off x="4540117" y="1392173"/>
            <a:ext cx="4080510" cy="2791206"/>
          </a:xfrm>
          <a:prstGeom prst="rect">
            <a:avLst/>
          </a:prstGeom>
          <a:noFill/>
          <a:ln>
            <a:noFill/>
          </a:ln>
        </p:spPr>
      </p:pic>
      <p:sp>
        <p:nvSpPr>
          <p:cNvPr id="310" name="Google Shape;310;p34"/>
          <p:cNvSpPr/>
          <p:nvPr/>
        </p:nvSpPr>
        <p:spPr>
          <a:xfrm>
            <a:off x="480073" y="3991356"/>
            <a:ext cx="8126947" cy="788670"/>
          </a:xfrm>
          <a:prstGeom prst="roundRect">
            <a:avLst>
              <a:gd fmla="val 16667" name="adj"/>
            </a:avLst>
          </a:prstGeom>
          <a:solidFill>
            <a:srgbClr val="E8F2F9"/>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1" name="Google Shape;311;p34"/>
          <p:cNvSpPr txBox="1"/>
          <p:nvPr/>
        </p:nvSpPr>
        <p:spPr>
          <a:xfrm>
            <a:off x="672102" y="4149090"/>
            <a:ext cx="994500" cy="377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238589"/>
                </a:solidFill>
                <a:latin typeface="Arial"/>
                <a:ea typeface="Arial"/>
                <a:cs typeface="Arial"/>
                <a:sym typeface="Arial"/>
              </a:rPr>
              <a:t>What w</a:t>
            </a:r>
            <a:r>
              <a:rPr b="1" lang="en" sz="1000">
                <a:solidFill>
                  <a:srgbClr val="238589"/>
                </a:solidFill>
              </a:rPr>
              <a:t>as </a:t>
            </a:r>
            <a:r>
              <a:rPr b="1" i="0" lang="en" sz="1000" u="none" cap="none" strike="noStrike">
                <a:solidFill>
                  <a:srgbClr val="238589"/>
                </a:solidFill>
                <a:latin typeface="Arial"/>
                <a:ea typeface="Arial"/>
                <a:cs typeface="Arial"/>
                <a:sym typeface="Arial"/>
              </a:rPr>
              <a:t>found</a:t>
            </a:r>
            <a:endParaRPr sz="1100"/>
          </a:p>
        </p:txBody>
      </p:sp>
      <p:sp>
        <p:nvSpPr>
          <p:cNvPr id="312" name="Google Shape;312;p34"/>
          <p:cNvSpPr txBox="1"/>
          <p:nvPr/>
        </p:nvSpPr>
        <p:spPr>
          <a:xfrm>
            <a:off x="1413216" y="4142234"/>
            <a:ext cx="49035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Typical temperature generally decreases farther from the equator, while warmer locations cluster in tropical and subtropical regions.</a:t>
            </a:r>
            <a:endParaRPr b="0" i="0" sz="800" u="none" cap="none" strike="noStrike">
              <a:solidFill>
                <a:srgbClr val="2D3748"/>
              </a:solidFill>
              <a:latin typeface="Arial"/>
              <a:ea typeface="Arial"/>
              <a:cs typeface="Arial"/>
              <a:sym typeface="Arial"/>
            </a:endParaRPr>
          </a:p>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 Locations at similar latitudes can still differ substantially, so latitude alone does not explain all geographic variation.</a:t>
            </a:r>
            <a:endParaRPr sz="1100"/>
          </a:p>
        </p:txBody>
      </p:sp>
      <p:sp>
        <p:nvSpPr>
          <p:cNvPr id="313" name="Google Shape;313;p34"/>
          <p:cNvSpPr txBox="1"/>
          <p:nvPr/>
        </p:nvSpPr>
        <p:spPr>
          <a:xfrm>
            <a:off x="6343826" y="4090756"/>
            <a:ext cx="19545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700" u="none" cap="none" strike="noStrike">
                <a:solidFill>
                  <a:srgbClr val="14263F"/>
                </a:solidFill>
                <a:latin typeface="Arial"/>
                <a:ea typeface="Arial"/>
                <a:cs typeface="Arial"/>
                <a:sym typeface="Arial"/>
              </a:rPr>
              <a:t>Coverage matters: 149 of 191 standardized country labels have only one sampled location, so country-level averages are not nationally representative.</a:t>
            </a:r>
            <a:endParaRPr sz="1100"/>
          </a:p>
        </p:txBody>
      </p:sp>
      <p:sp>
        <p:nvSpPr>
          <p:cNvPr id="314" name="Google Shape;314;p34"/>
          <p:cNvSpPr txBox="1"/>
          <p:nvPr/>
        </p:nvSpPr>
        <p:spPr>
          <a:xfrm>
            <a:off x="445782" y="4937760"/>
            <a:ext cx="5829455" cy="12344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600" u="none" cap="none" strike="noStrike">
                <a:solidFill>
                  <a:srgbClr val="64748B"/>
                </a:solidFill>
                <a:latin typeface="Arial"/>
                <a:ea typeface="Arial"/>
                <a:cs typeface="Arial"/>
                <a:sym typeface="Arial"/>
              </a:rPr>
              <a:t>Rola Elabd  |  Weather Trend Forecasting</a:t>
            </a:r>
            <a:endParaRPr sz="1100"/>
          </a:p>
        </p:txBody>
      </p:sp>
      <p:sp>
        <p:nvSpPr>
          <p:cNvPr id="315" name="Google Shape;315;p34"/>
          <p:cNvSpPr txBox="1"/>
          <p:nvPr/>
        </p:nvSpPr>
        <p:spPr>
          <a:xfrm>
            <a:off x="8298401" y="4937760"/>
            <a:ext cx="377200" cy="123444"/>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 sz="600" u="none" cap="none" strike="noStrike">
                <a:solidFill>
                  <a:srgbClr val="64748B"/>
                </a:solidFill>
                <a:latin typeface="Arial"/>
                <a:ea typeface="Arial"/>
                <a:cs typeface="Arial"/>
                <a:sym typeface="Arial"/>
              </a:rPr>
              <a:t>9</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19" name="Shape 319"/>
        <p:cNvGrpSpPr/>
        <p:nvPr/>
      </p:nvGrpSpPr>
      <p:grpSpPr>
        <a:xfrm>
          <a:off x="0" y="0"/>
          <a:ext cx="0" cy="0"/>
          <a:chOff x="0" y="0"/>
          <a:chExt cx="0" cy="0"/>
        </a:xfrm>
      </p:grpSpPr>
      <p:pic>
        <p:nvPicPr>
          <p:cNvPr descr="a_wide_ultra_realistic_high_resolution_photograp.png" id="320" name="Google Shape;320;p35"/>
          <p:cNvPicPr preferRelativeResize="0"/>
          <p:nvPr/>
        </p:nvPicPr>
        <p:blipFill rotWithShape="1">
          <a:blip r:embed="rId3">
            <a:alphaModFix/>
          </a:blip>
          <a:srcRect b="0" l="0" r="0" t="0"/>
          <a:stretch/>
        </p:blipFill>
        <p:spPr>
          <a:xfrm>
            <a:off x="0" y="0"/>
            <a:ext cx="9143771" cy="5143499"/>
          </a:xfrm>
          <a:prstGeom prst="rect">
            <a:avLst/>
          </a:prstGeom>
          <a:noFill/>
          <a:ln>
            <a:noFill/>
          </a:ln>
        </p:spPr>
      </p:pic>
      <p:sp>
        <p:nvSpPr>
          <p:cNvPr id="321" name="Google Shape;321;p35"/>
          <p:cNvSpPr/>
          <p:nvPr/>
        </p:nvSpPr>
        <p:spPr>
          <a:xfrm>
            <a:off x="0" y="0"/>
            <a:ext cx="9143700" cy="5143500"/>
          </a:xfrm>
          <a:prstGeom prst="rect">
            <a:avLst/>
          </a:prstGeom>
          <a:solidFill>
            <a:srgbClr val="14263F">
              <a:alpha val="32940"/>
            </a:srgbClr>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2" name="Google Shape;322;p35"/>
          <p:cNvSpPr txBox="1"/>
          <p:nvPr/>
        </p:nvSpPr>
        <p:spPr>
          <a:xfrm>
            <a:off x="1899450" y="2044650"/>
            <a:ext cx="5345100" cy="1054200"/>
          </a:xfrm>
          <a:prstGeom prst="rect">
            <a:avLst/>
          </a:prstGeom>
          <a:noFill/>
          <a:ln>
            <a:noFill/>
          </a:ln>
          <a:effectLst>
            <a:outerShdw blurRad="100013" rotWithShape="0" algn="bl" dir="8040000" dist="85725">
              <a:srgbClr val="000000">
                <a:alpha val="94000"/>
              </a:srgbClr>
            </a:outerShdw>
          </a:effectLst>
        </p:spPr>
        <p:txBody>
          <a:bodyPr anchorCtr="0" anchor="t" bIns="34275" lIns="68575" spcFirstLastPara="1" rIns="68575" wrap="square" tIns="34275">
            <a:spAutoFit/>
          </a:bodyPr>
          <a:lstStyle/>
          <a:p>
            <a:pPr indent="0" lvl="0" marL="0" marR="0" rtl="0" algn="ctr">
              <a:spcBef>
                <a:spcPts val="0"/>
              </a:spcBef>
              <a:spcAft>
                <a:spcPts val="0"/>
              </a:spcAft>
              <a:buNone/>
            </a:pPr>
            <a:r>
              <a:rPr b="1" lang="en" sz="3200">
                <a:solidFill>
                  <a:srgbClr val="FFFFFF"/>
                </a:solidFill>
              </a:rPr>
              <a:t>Feature Engineering &amp; Modeling</a:t>
            </a:r>
            <a:endParaRPr b="1" sz="1000">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26" name="Shape 326"/>
        <p:cNvGrpSpPr/>
        <p:nvPr/>
      </p:nvGrpSpPr>
      <p:grpSpPr>
        <a:xfrm>
          <a:off x="0" y="0"/>
          <a:ext cx="0" cy="0"/>
          <a:chOff x="0" y="0"/>
          <a:chExt cx="0" cy="0"/>
        </a:xfrm>
      </p:grpSpPr>
      <p:sp>
        <p:nvSpPr>
          <p:cNvPr id="327" name="Google Shape;327;p36"/>
          <p:cNvSpPr txBox="1"/>
          <p:nvPr/>
        </p:nvSpPr>
        <p:spPr>
          <a:xfrm>
            <a:off x="480073" y="288036"/>
            <a:ext cx="802407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4263F"/>
                </a:solidFill>
                <a:latin typeface="Arial"/>
                <a:ea typeface="Arial"/>
                <a:cs typeface="Arial"/>
                <a:sym typeface="Arial"/>
              </a:rPr>
              <a:t>Forecasting Setup &amp; Feature Engineering</a:t>
            </a:r>
            <a:endParaRPr sz="1100"/>
          </a:p>
        </p:txBody>
      </p:sp>
      <p:sp>
        <p:nvSpPr>
          <p:cNvPr id="328" name="Google Shape;328;p36"/>
          <p:cNvSpPr/>
          <p:nvPr/>
        </p:nvSpPr>
        <p:spPr>
          <a:xfrm>
            <a:off x="480073" y="768096"/>
            <a:ext cx="8195528" cy="493776"/>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9" name="Google Shape;329;p36"/>
          <p:cNvSpPr txBox="1"/>
          <p:nvPr/>
        </p:nvSpPr>
        <p:spPr>
          <a:xfrm>
            <a:off x="651527" y="891540"/>
            <a:ext cx="7852500" cy="2385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lang="en" sz="1100">
                <a:solidFill>
                  <a:srgbClr val="14263F"/>
                </a:solidFill>
              </a:rPr>
              <a:t>Target : N</a:t>
            </a:r>
            <a:r>
              <a:rPr b="1" i="0" lang="en" sz="1100" u="none" cap="none" strike="noStrike">
                <a:solidFill>
                  <a:srgbClr val="14263F"/>
                </a:solidFill>
                <a:latin typeface="Arial"/>
                <a:ea typeface="Arial"/>
                <a:cs typeface="Arial"/>
                <a:sym typeface="Arial"/>
              </a:rPr>
              <a:t>ext-day temperature </a:t>
            </a:r>
            <a:r>
              <a:rPr b="1" lang="en" sz="1100">
                <a:solidFill>
                  <a:srgbClr val="14263F"/>
                </a:solidFill>
              </a:rPr>
              <a:t>prediction </a:t>
            </a:r>
            <a:r>
              <a:rPr b="1" i="0" lang="en" sz="1100" u="none" cap="none" strike="noStrike">
                <a:solidFill>
                  <a:srgbClr val="14263F"/>
                </a:solidFill>
                <a:latin typeface="Arial"/>
                <a:ea typeface="Arial"/>
                <a:cs typeface="Arial"/>
                <a:sym typeface="Arial"/>
              </a:rPr>
              <a:t>without leaking future information and providing sufficient history data</a:t>
            </a:r>
            <a:endParaRPr sz="1100"/>
          </a:p>
        </p:txBody>
      </p:sp>
      <p:sp>
        <p:nvSpPr>
          <p:cNvPr id="330" name="Google Shape;330;p36"/>
          <p:cNvSpPr txBox="1"/>
          <p:nvPr/>
        </p:nvSpPr>
        <p:spPr>
          <a:xfrm>
            <a:off x="548655" y="1440180"/>
            <a:ext cx="2743273"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4263F"/>
                </a:solidFill>
                <a:latin typeface="Arial"/>
                <a:ea typeface="Arial"/>
                <a:cs typeface="Arial"/>
                <a:sym typeface="Arial"/>
              </a:rPr>
              <a:t>Forecasting design</a:t>
            </a:r>
            <a:endParaRPr sz="1100"/>
          </a:p>
        </p:txBody>
      </p:sp>
      <p:sp>
        <p:nvSpPr>
          <p:cNvPr id="331" name="Google Shape;331;p36"/>
          <p:cNvSpPr/>
          <p:nvPr/>
        </p:nvSpPr>
        <p:spPr>
          <a:xfrm>
            <a:off x="548655" y="1783080"/>
            <a:ext cx="1886000" cy="672084"/>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2" name="Google Shape;332;p36"/>
          <p:cNvSpPr/>
          <p:nvPr/>
        </p:nvSpPr>
        <p:spPr>
          <a:xfrm>
            <a:off x="548655" y="1783080"/>
            <a:ext cx="48007" cy="672084"/>
          </a:xfrm>
          <a:prstGeom prst="rect">
            <a:avLst/>
          </a:prstGeom>
          <a:solidFill>
            <a:srgbClr val="2D67B5"/>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3" name="Google Shape;333;p36"/>
          <p:cNvSpPr txBox="1"/>
          <p:nvPr/>
        </p:nvSpPr>
        <p:spPr>
          <a:xfrm>
            <a:off x="672102" y="1879092"/>
            <a:ext cx="1666538" cy="1508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700" u="none" cap="none" strike="noStrike">
                <a:solidFill>
                  <a:srgbClr val="64748B"/>
                </a:solidFill>
                <a:latin typeface="Arial"/>
                <a:ea typeface="Arial"/>
                <a:cs typeface="Arial"/>
                <a:sym typeface="Arial"/>
              </a:rPr>
              <a:t>Target</a:t>
            </a:r>
            <a:endParaRPr sz="1100"/>
          </a:p>
        </p:txBody>
      </p:sp>
      <p:sp>
        <p:nvSpPr>
          <p:cNvPr id="334" name="Google Shape;334;p36"/>
          <p:cNvSpPr txBox="1"/>
          <p:nvPr/>
        </p:nvSpPr>
        <p:spPr>
          <a:xfrm>
            <a:off x="672102" y="2036824"/>
            <a:ext cx="16665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100" u="none" cap="none" strike="noStrike">
                <a:solidFill>
                  <a:srgbClr val="14263F"/>
                </a:solidFill>
                <a:latin typeface="Arial"/>
                <a:ea typeface="Arial"/>
                <a:cs typeface="Arial"/>
                <a:sym typeface="Arial"/>
              </a:rPr>
              <a:t>Next observation</a:t>
            </a:r>
            <a:br>
              <a:rPr b="1" i="0" lang="en" sz="1100" u="none" cap="none" strike="noStrike">
                <a:solidFill>
                  <a:srgbClr val="14263F"/>
                </a:solidFill>
                <a:latin typeface="Arial"/>
                <a:ea typeface="Arial"/>
                <a:cs typeface="Arial"/>
                <a:sym typeface="Arial"/>
              </a:rPr>
            </a:br>
            <a:r>
              <a:rPr b="1" lang="en" sz="1100">
                <a:solidFill>
                  <a:srgbClr val="14263F"/>
                </a:solidFill>
              </a:rPr>
              <a:t>= </a:t>
            </a:r>
            <a:r>
              <a:rPr b="1" i="0" lang="en" sz="1100" u="none" cap="none" strike="noStrike">
                <a:solidFill>
                  <a:srgbClr val="14263F"/>
                </a:solidFill>
                <a:latin typeface="Arial"/>
                <a:ea typeface="Arial"/>
                <a:cs typeface="Arial"/>
                <a:sym typeface="Arial"/>
              </a:rPr>
              <a:t>24 hours later</a:t>
            </a:r>
            <a:endParaRPr sz="1100"/>
          </a:p>
        </p:txBody>
      </p:sp>
      <p:sp>
        <p:nvSpPr>
          <p:cNvPr id="335" name="Google Shape;335;p36"/>
          <p:cNvSpPr/>
          <p:nvPr/>
        </p:nvSpPr>
        <p:spPr>
          <a:xfrm>
            <a:off x="548655" y="2640330"/>
            <a:ext cx="1886000" cy="672084"/>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6" name="Google Shape;336;p36"/>
          <p:cNvSpPr/>
          <p:nvPr/>
        </p:nvSpPr>
        <p:spPr>
          <a:xfrm>
            <a:off x="548655" y="2640330"/>
            <a:ext cx="48007" cy="672084"/>
          </a:xfrm>
          <a:prstGeom prst="rect">
            <a:avLst/>
          </a:prstGeom>
          <a:solidFill>
            <a:srgbClr val="238589"/>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7" name="Google Shape;337;p36"/>
          <p:cNvSpPr txBox="1"/>
          <p:nvPr/>
        </p:nvSpPr>
        <p:spPr>
          <a:xfrm>
            <a:off x="672102" y="2736342"/>
            <a:ext cx="1666538" cy="1508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700" u="none" cap="none" strike="noStrike">
                <a:solidFill>
                  <a:srgbClr val="64748B"/>
                </a:solidFill>
                <a:latin typeface="Arial"/>
                <a:ea typeface="Arial"/>
                <a:cs typeface="Arial"/>
                <a:sym typeface="Arial"/>
              </a:rPr>
              <a:t>Time window</a:t>
            </a:r>
            <a:endParaRPr sz="1100"/>
          </a:p>
        </p:txBody>
      </p:sp>
      <p:sp>
        <p:nvSpPr>
          <p:cNvPr id="338" name="Google Shape;338;p36"/>
          <p:cNvSpPr txBox="1"/>
          <p:nvPr/>
        </p:nvSpPr>
        <p:spPr>
          <a:xfrm>
            <a:off x="672102" y="2921512"/>
            <a:ext cx="16665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100" u="none" cap="none" strike="noStrike">
                <a:solidFill>
                  <a:srgbClr val="14263F"/>
                </a:solidFill>
                <a:latin typeface="Arial"/>
                <a:ea typeface="Arial"/>
                <a:cs typeface="Arial"/>
                <a:sym typeface="Arial"/>
              </a:rPr>
              <a:t>22–26 hours</a:t>
            </a:r>
            <a:br>
              <a:rPr b="1" i="0" lang="en" sz="1100" u="none" cap="none" strike="noStrike">
                <a:solidFill>
                  <a:srgbClr val="14263F"/>
                </a:solidFill>
                <a:latin typeface="Arial"/>
                <a:ea typeface="Arial"/>
                <a:cs typeface="Arial"/>
                <a:sym typeface="Arial"/>
              </a:rPr>
            </a:br>
            <a:r>
              <a:rPr b="1" i="0" lang="en" sz="1100" u="none" cap="none" strike="noStrike">
                <a:solidFill>
                  <a:srgbClr val="14263F"/>
                </a:solidFill>
                <a:latin typeface="Arial"/>
                <a:ea typeface="Arial"/>
                <a:cs typeface="Arial"/>
                <a:sym typeface="Arial"/>
              </a:rPr>
              <a:t>accepted</a:t>
            </a:r>
            <a:endParaRPr sz="1100"/>
          </a:p>
        </p:txBody>
      </p:sp>
      <p:sp>
        <p:nvSpPr>
          <p:cNvPr id="339" name="Google Shape;339;p36"/>
          <p:cNvSpPr/>
          <p:nvPr/>
        </p:nvSpPr>
        <p:spPr>
          <a:xfrm>
            <a:off x="548655" y="3497580"/>
            <a:ext cx="1886000" cy="672084"/>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0" name="Google Shape;340;p36"/>
          <p:cNvSpPr/>
          <p:nvPr/>
        </p:nvSpPr>
        <p:spPr>
          <a:xfrm>
            <a:off x="548655" y="3497580"/>
            <a:ext cx="48007" cy="672084"/>
          </a:xfrm>
          <a:prstGeom prst="rect">
            <a:avLst/>
          </a:prstGeom>
          <a:solidFill>
            <a:srgbClr val="2D67B5"/>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1" name="Google Shape;341;p36"/>
          <p:cNvSpPr txBox="1"/>
          <p:nvPr/>
        </p:nvSpPr>
        <p:spPr>
          <a:xfrm>
            <a:off x="672102" y="3593591"/>
            <a:ext cx="1666538" cy="1508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700" u="none" cap="none" strike="noStrike">
                <a:solidFill>
                  <a:srgbClr val="64748B"/>
                </a:solidFill>
                <a:latin typeface="Arial"/>
                <a:ea typeface="Arial"/>
                <a:cs typeface="Arial"/>
                <a:sym typeface="Arial"/>
              </a:rPr>
              <a:t>Evaluation</a:t>
            </a:r>
            <a:endParaRPr sz="1100"/>
          </a:p>
        </p:txBody>
      </p:sp>
      <p:sp>
        <p:nvSpPr>
          <p:cNvPr id="342" name="Google Shape;342;p36"/>
          <p:cNvSpPr txBox="1"/>
          <p:nvPr/>
        </p:nvSpPr>
        <p:spPr>
          <a:xfrm>
            <a:off x="672102" y="3765048"/>
            <a:ext cx="16665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100" u="none" cap="none" strike="noStrike">
                <a:solidFill>
                  <a:srgbClr val="14263F"/>
                </a:solidFill>
                <a:latin typeface="Arial"/>
                <a:ea typeface="Arial"/>
                <a:cs typeface="Arial"/>
                <a:sym typeface="Arial"/>
              </a:rPr>
              <a:t>Chronological</a:t>
            </a:r>
            <a:br>
              <a:rPr b="1" i="0" lang="en" sz="1100" u="none" cap="none" strike="noStrike">
                <a:solidFill>
                  <a:srgbClr val="14263F"/>
                </a:solidFill>
                <a:latin typeface="Arial"/>
                <a:ea typeface="Arial"/>
                <a:cs typeface="Arial"/>
                <a:sym typeface="Arial"/>
              </a:rPr>
            </a:br>
            <a:r>
              <a:rPr b="1" i="0" lang="en" sz="1100" u="none" cap="none" strike="noStrike">
                <a:solidFill>
                  <a:srgbClr val="14263F"/>
                </a:solidFill>
                <a:latin typeface="Arial"/>
                <a:ea typeface="Arial"/>
                <a:cs typeface="Arial"/>
                <a:sym typeface="Arial"/>
              </a:rPr>
              <a:t>train / val / test</a:t>
            </a:r>
            <a:endParaRPr sz="1100"/>
          </a:p>
        </p:txBody>
      </p:sp>
      <p:sp>
        <p:nvSpPr>
          <p:cNvPr id="343" name="Google Shape;343;p36"/>
          <p:cNvSpPr txBox="1"/>
          <p:nvPr/>
        </p:nvSpPr>
        <p:spPr>
          <a:xfrm>
            <a:off x="2914728" y="1440180"/>
            <a:ext cx="2743273"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4263F"/>
                </a:solidFill>
                <a:latin typeface="Arial"/>
                <a:ea typeface="Arial"/>
                <a:cs typeface="Arial"/>
                <a:sym typeface="Arial"/>
              </a:rPr>
              <a:t>Final feature groups</a:t>
            </a:r>
            <a:endParaRPr sz="1100"/>
          </a:p>
        </p:txBody>
      </p:sp>
      <p:sp>
        <p:nvSpPr>
          <p:cNvPr id="344" name="Google Shape;344;p36"/>
          <p:cNvSpPr txBox="1"/>
          <p:nvPr/>
        </p:nvSpPr>
        <p:spPr>
          <a:xfrm>
            <a:off x="2914728" y="1748790"/>
            <a:ext cx="1440218"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00" u="none" cap="none" strike="noStrike">
                <a:solidFill>
                  <a:srgbClr val="238589"/>
                </a:solidFill>
                <a:latin typeface="Arial"/>
                <a:ea typeface="Arial"/>
                <a:cs typeface="Arial"/>
                <a:sym typeface="Arial"/>
              </a:rPr>
              <a:t>Current weather</a:t>
            </a:r>
            <a:endParaRPr sz="1100"/>
          </a:p>
        </p:txBody>
      </p:sp>
      <p:sp>
        <p:nvSpPr>
          <p:cNvPr id="345" name="Google Shape;345;p36"/>
          <p:cNvSpPr txBox="1"/>
          <p:nvPr/>
        </p:nvSpPr>
        <p:spPr>
          <a:xfrm>
            <a:off x="3943455" y="1748790"/>
            <a:ext cx="2194619"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temperature, humidity, pressure, wind, cloud, UV, precipitation</a:t>
            </a:r>
            <a:endParaRPr sz="1100"/>
          </a:p>
        </p:txBody>
      </p:sp>
      <p:sp>
        <p:nvSpPr>
          <p:cNvPr id="346" name="Google Shape;346;p36"/>
          <p:cNvSpPr txBox="1"/>
          <p:nvPr/>
        </p:nvSpPr>
        <p:spPr>
          <a:xfrm>
            <a:off x="2914728" y="2311145"/>
            <a:ext cx="1440218"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00" u="none" cap="none" strike="noStrike">
                <a:solidFill>
                  <a:srgbClr val="238589"/>
                </a:solidFill>
                <a:latin typeface="Arial"/>
                <a:ea typeface="Arial"/>
                <a:cs typeface="Arial"/>
                <a:sym typeface="Arial"/>
              </a:rPr>
              <a:t>Recent history</a:t>
            </a:r>
            <a:endParaRPr sz="1100"/>
          </a:p>
        </p:txBody>
      </p:sp>
      <p:sp>
        <p:nvSpPr>
          <p:cNvPr id="347" name="Google Shape;347;p36"/>
          <p:cNvSpPr txBox="1"/>
          <p:nvPr/>
        </p:nvSpPr>
        <p:spPr>
          <a:xfrm>
            <a:off x="3943455" y="2311145"/>
            <a:ext cx="2194619"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lag_1, lag_2, lag_3, lag_7, temp_change_1d, temp_mean_3d</a:t>
            </a:r>
            <a:endParaRPr sz="1100"/>
          </a:p>
        </p:txBody>
      </p:sp>
      <p:sp>
        <p:nvSpPr>
          <p:cNvPr id="348" name="Google Shape;348;p36"/>
          <p:cNvSpPr txBox="1"/>
          <p:nvPr/>
        </p:nvSpPr>
        <p:spPr>
          <a:xfrm>
            <a:off x="2914728" y="2873501"/>
            <a:ext cx="1440218"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00" u="none" cap="none" strike="noStrike">
                <a:solidFill>
                  <a:srgbClr val="238589"/>
                </a:solidFill>
                <a:latin typeface="Arial"/>
                <a:ea typeface="Arial"/>
                <a:cs typeface="Arial"/>
                <a:sym typeface="Arial"/>
              </a:rPr>
              <a:t>Seasonality</a:t>
            </a:r>
            <a:endParaRPr sz="1100"/>
          </a:p>
        </p:txBody>
      </p:sp>
      <p:sp>
        <p:nvSpPr>
          <p:cNvPr id="349" name="Google Shape;349;p36"/>
          <p:cNvSpPr txBox="1"/>
          <p:nvPr/>
        </p:nvSpPr>
        <p:spPr>
          <a:xfrm>
            <a:off x="3943455" y="2873501"/>
            <a:ext cx="2194619"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cyclical day-of-year features</a:t>
            </a:r>
            <a:endParaRPr sz="1100"/>
          </a:p>
        </p:txBody>
      </p:sp>
      <p:sp>
        <p:nvSpPr>
          <p:cNvPr id="350" name="Google Shape;350;p36"/>
          <p:cNvSpPr txBox="1"/>
          <p:nvPr/>
        </p:nvSpPr>
        <p:spPr>
          <a:xfrm>
            <a:off x="2914728" y="3435858"/>
            <a:ext cx="1440218"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00" u="none" cap="none" strike="noStrike">
                <a:solidFill>
                  <a:srgbClr val="238589"/>
                </a:solidFill>
                <a:latin typeface="Arial"/>
                <a:ea typeface="Arial"/>
                <a:cs typeface="Arial"/>
                <a:sym typeface="Arial"/>
              </a:rPr>
              <a:t>Geography</a:t>
            </a:r>
            <a:endParaRPr sz="1100"/>
          </a:p>
        </p:txBody>
      </p:sp>
      <p:sp>
        <p:nvSpPr>
          <p:cNvPr id="351" name="Google Shape;351;p36"/>
          <p:cNvSpPr txBox="1"/>
          <p:nvPr/>
        </p:nvSpPr>
        <p:spPr>
          <a:xfrm>
            <a:off x="3943455" y="3435858"/>
            <a:ext cx="21945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latitude, longitude, country, Location</a:t>
            </a:r>
            <a:endParaRPr sz="1100"/>
          </a:p>
        </p:txBody>
      </p:sp>
      <p:sp>
        <p:nvSpPr>
          <p:cNvPr id="352" name="Google Shape;352;p36"/>
          <p:cNvSpPr/>
          <p:nvPr/>
        </p:nvSpPr>
        <p:spPr>
          <a:xfrm>
            <a:off x="6412401" y="1440180"/>
            <a:ext cx="2091746" cy="3051810"/>
          </a:xfrm>
          <a:prstGeom prst="roundRect">
            <a:avLst>
              <a:gd fmla="val 16667" name="adj"/>
            </a:avLst>
          </a:prstGeom>
          <a:solidFill>
            <a:srgbClr val="E8F2F9"/>
          </a:solidFill>
          <a:ln cap="flat" cmpd="sng" w="9525">
            <a:solidFill>
              <a:srgbClr val="2D67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3" name="Google Shape;353;p36"/>
          <p:cNvSpPr txBox="1"/>
          <p:nvPr/>
        </p:nvSpPr>
        <p:spPr>
          <a:xfrm>
            <a:off x="6618146" y="1659636"/>
            <a:ext cx="1748837" cy="21945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4263F"/>
                </a:solidFill>
                <a:latin typeface="Arial"/>
                <a:ea typeface="Arial"/>
                <a:cs typeface="Arial"/>
                <a:sym typeface="Arial"/>
              </a:rPr>
              <a:t>Key checks</a:t>
            </a:r>
            <a:endParaRPr sz="1100"/>
          </a:p>
        </p:txBody>
      </p:sp>
      <p:sp>
        <p:nvSpPr>
          <p:cNvPr id="354" name="Google Shape;354;p36"/>
          <p:cNvSpPr txBox="1"/>
          <p:nvPr/>
        </p:nvSpPr>
        <p:spPr>
          <a:xfrm>
            <a:off x="6618146" y="2071116"/>
            <a:ext cx="788691"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500" u="none" cap="none" strike="noStrike">
                <a:solidFill>
                  <a:srgbClr val="2D67B5"/>
                </a:solidFill>
                <a:latin typeface="Arial"/>
                <a:ea typeface="Arial"/>
                <a:cs typeface="Arial"/>
                <a:sym typeface="Arial"/>
              </a:rPr>
              <a:t>98.75%</a:t>
            </a:r>
            <a:endParaRPr sz="1100"/>
          </a:p>
        </p:txBody>
      </p:sp>
      <p:sp>
        <p:nvSpPr>
          <p:cNvPr id="355" name="Google Shape;355;p36"/>
          <p:cNvSpPr txBox="1"/>
          <p:nvPr/>
        </p:nvSpPr>
        <p:spPr>
          <a:xfrm>
            <a:off x="7317681" y="2105406"/>
            <a:ext cx="994437"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700" u="none" cap="none" strike="noStrike">
                <a:solidFill>
                  <a:srgbClr val="2D3748"/>
                </a:solidFill>
                <a:latin typeface="Arial"/>
                <a:ea typeface="Arial"/>
                <a:cs typeface="Arial"/>
                <a:sym typeface="Arial"/>
              </a:rPr>
              <a:t>of gaps were between 20 and 28 hours</a:t>
            </a:r>
            <a:endParaRPr sz="1100"/>
          </a:p>
        </p:txBody>
      </p:sp>
      <p:sp>
        <p:nvSpPr>
          <p:cNvPr id="356" name="Google Shape;356;p36"/>
          <p:cNvSpPr txBox="1"/>
          <p:nvPr/>
        </p:nvSpPr>
        <p:spPr>
          <a:xfrm>
            <a:off x="6618146" y="2743200"/>
            <a:ext cx="788691"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500" u="none" cap="none" strike="noStrike">
                <a:solidFill>
                  <a:srgbClr val="2D67B5"/>
                </a:solidFill>
                <a:latin typeface="Arial"/>
                <a:ea typeface="Arial"/>
                <a:cs typeface="Arial"/>
                <a:sym typeface="Arial"/>
              </a:rPr>
              <a:t>0.93%</a:t>
            </a:r>
            <a:endParaRPr sz="1100"/>
          </a:p>
        </p:txBody>
      </p:sp>
      <p:sp>
        <p:nvSpPr>
          <p:cNvPr id="357" name="Google Shape;357;p36"/>
          <p:cNvSpPr txBox="1"/>
          <p:nvPr/>
        </p:nvSpPr>
        <p:spPr>
          <a:xfrm>
            <a:off x="7317681" y="2777490"/>
            <a:ext cx="1063018"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700" u="none" cap="none" strike="noStrike">
                <a:solidFill>
                  <a:srgbClr val="2D3748"/>
                </a:solidFill>
                <a:latin typeface="Arial"/>
                <a:ea typeface="Arial"/>
                <a:cs typeface="Arial"/>
                <a:sym typeface="Arial"/>
              </a:rPr>
              <a:t>missing lag_1 values retained</a:t>
            </a:r>
            <a:endParaRPr sz="1100"/>
          </a:p>
        </p:txBody>
      </p:sp>
      <p:sp>
        <p:nvSpPr>
          <p:cNvPr id="358" name="Google Shape;358;p36"/>
          <p:cNvSpPr txBox="1"/>
          <p:nvPr/>
        </p:nvSpPr>
        <p:spPr>
          <a:xfrm>
            <a:off x="6618146" y="3429000"/>
            <a:ext cx="1097309"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100" u="none" cap="none" strike="noStrike">
                <a:solidFill>
                  <a:srgbClr val="238589"/>
                </a:solidFill>
                <a:latin typeface="Arial"/>
                <a:ea typeface="Arial"/>
                <a:cs typeface="Arial"/>
                <a:sym typeface="Arial"/>
              </a:rPr>
              <a:t>No leakage</a:t>
            </a:r>
            <a:endParaRPr sz="1100"/>
          </a:p>
        </p:txBody>
      </p:sp>
      <p:sp>
        <p:nvSpPr>
          <p:cNvPr id="359" name="Google Shape;359;p36"/>
          <p:cNvSpPr txBox="1"/>
          <p:nvPr/>
        </p:nvSpPr>
        <p:spPr>
          <a:xfrm>
            <a:off x="6618146" y="3689604"/>
            <a:ext cx="1680255" cy="44577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700" u="none" cap="none" strike="noStrike">
                <a:solidFill>
                  <a:srgbClr val="2D3748"/>
                </a:solidFill>
                <a:latin typeface="Arial"/>
                <a:ea typeface="Arial"/>
                <a:cs typeface="Arial"/>
                <a:sym typeface="Arial"/>
              </a:rPr>
              <a:t>Features were created only from information available at forecast time.</a:t>
            </a:r>
            <a:endParaRPr sz="1100"/>
          </a:p>
        </p:txBody>
      </p:sp>
      <p:sp>
        <p:nvSpPr>
          <p:cNvPr id="360" name="Google Shape;360;p36"/>
          <p:cNvSpPr txBox="1"/>
          <p:nvPr/>
        </p:nvSpPr>
        <p:spPr>
          <a:xfrm>
            <a:off x="582946" y="4560570"/>
            <a:ext cx="7818328" cy="19202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14263F"/>
                </a:solidFill>
                <a:latin typeface="Arial"/>
                <a:ea typeface="Arial"/>
                <a:cs typeface="Arial"/>
                <a:sym typeface="Arial"/>
              </a:rPr>
              <a:t>Takeaway: The setup treats this as a real forecasting problem, not a random row-level prediction task.</a:t>
            </a:r>
            <a:endParaRPr sz="1100"/>
          </a:p>
        </p:txBody>
      </p:sp>
      <p:sp>
        <p:nvSpPr>
          <p:cNvPr id="361" name="Google Shape;361;p36"/>
          <p:cNvSpPr txBox="1"/>
          <p:nvPr/>
        </p:nvSpPr>
        <p:spPr>
          <a:xfrm>
            <a:off x="445782" y="4924044"/>
            <a:ext cx="5829455" cy="12344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600" u="none" cap="none" strike="noStrike">
                <a:solidFill>
                  <a:srgbClr val="64748B"/>
                </a:solidFill>
                <a:latin typeface="Arial"/>
                <a:ea typeface="Arial"/>
                <a:cs typeface="Arial"/>
                <a:sym typeface="Arial"/>
              </a:rPr>
              <a:t>Rola Elabd  |  Weather Trend Forecasting</a:t>
            </a:r>
            <a:endParaRPr sz="1100"/>
          </a:p>
        </p:txBody>
      </p:sp>
      <p:sp>
        <p:nvSpPr>
          <p:cNvPr id="362" name="Google Shape;362;p36"/>
          <p:cNvSpPr txBox="1"/>
          <p:nvPr/>
        </p:nvSpPr>
        <p:spPr>
          <a:xfrm>
            <a:off x="8298401" y="4924044"/>
            <a:ext cx="377200" cy="123444"/>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 sz="600" u="none" cap="none" strike="noStrike">
                <a:solidFill>
                  <a:srgbClr val="64748B"/>
                </a:solidFill>
                <a:latin typeface="Arial"/>
                <a:ea typeface="Arial"/>
                <a:cs typeface="Arial"/>
                <a:sym typeface="Arial"/>
              </a:rPr>
              <a:t>10</a:t>
            </a:r>
            <a:endParaRPr sz="1100"/>
          </a:p>
        </p:txBody>
      </p:sp>
      <p:sp>
        <p:nvSpPr>
          <p:cNvPr id="363" name="Google Shape;363;p36"/>
          <p:cNvSpPr txBox="1"/>
          <p:nvPr/>
        </p:nvSpPr>
        <p:spPr>
          <a:xfrm>
            <a:off x="2887253" y="3861040"/>
            <a:ext cx="14403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900">
                <a:solidFill>
                  <a:srgbClr val="238589"/>
                </a:solidFill>
              </a:rPr>
              <a:t>Air Quality</a:t>
            </a:r>
            <a:endParaRPr sz="1100"/>
          </a:p>
        </p:txBody>
      </p:sp>
      <p:sp>
        <p:nvSpPr>
          <p:cNvPr id="364" name="Google Shape;364;p36"/>
          <p:cNvSpPr txBox="1"/>
          <p:nvPr/>
        </p:nvSpPr>
        <p:spPr>
          <a:xfrm>
            <a:off x="3989105" y="3826690"/>
            <a:ext cx="21945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800">
                <a:solidFill>
                  <a:srgbClr val="2D3748"/>
                </a:solidFill>
              </a:rPr>
              <a:t>These Features were tested but their </a:t>
            </a:r>
            <a:r>
              <a:rPr lang="en" sz="800">
                <a:solidFill>
                  <a:srgbClr val="2D3748"/>
                </a:solidFill>
              </a:rPr>
              <a:t>feature</a:t>
            </a:r>
            <a:r>
              <a:rPr lang="en" sz="800">
                <a:solidFill>
                  <a:srgbClr val="2D3748"/>
                </a:solidFill>
              </a:rPr>
              <a:t> importance score were nearly zero so they were not included</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68" name="Shape 368"/>
        <p:cNvGrpSpPr/>
        <p:nvPr/>
      </p:nvGrpSpPr>
      <p:grpSpPr>
        <a:xfrm>
          <a:off x="0" y="0"/>
          <a:ext cx="0" cy="0"/>
          <a:chOff x="0" y="0"/>
          <a:chExt cx="0" cy="0"/>
        </a:xfrm>
      </p:grpSpPr>
      <p:sp>
        <p:nvSpPr>
          <p:cNvPr id="369" name="Google Shape;369;p37"/>
          <p:cNvSpPr txBox="1"/>
          <p:nvPr/>
        </p:nvSpPr>
        <p:spPr>
          <a:xfrm>
            <a:off x="474298" y="151036"/>
            <a:ext cx="8024100" cy="377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4263F"/>
                </a:solidFill>
                <a:latin typeface="Arial"/>
                <a:ea typeface="Arial"/>
                <a:cs typeface="Arial"/>
                <a:sym typeface="Arial"/>
              </a:rPr>
              <a:t>Modeling Approach</a:t>
            </a:r>
            <a:endParaRPr sz="1100"/>
          </a:p>
        </p:txBody>
      </p:sp>
      <p:sp>
        <p:nvSpPr>
          <p:cNvPr id="370" name="Google Shape;370;p37"/>
          <p:cNvSpPr/>
          <p:nvPr/>
        </p:nvSpPr>
        <p:spPr>
          <a:xfrm>
            <a:off x="445764" y="1104230"/>
            <a:ext cx="1220700" cy="720000"/>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1" name="Google Shape;371;p37"/>
          <p:cNvSpPr txBox="1"/>
          <p:nvPr/>
        </p:nvSpPr>
        <p:spPr>
          <a:xfrm>
            <a:off x="500629" y="1268822"/>
            <a:ext cx="11109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14263F"/>
                </a:solidFill>
                <a:latin typeface="Arial"/>
                <a:ea typeface="Arial"/>
                <a:cs typeface="Arial"/>
                <a:sym typeface="Arial"/>
              </a:rPr>
              <a:t>Persistence</a:t>
            </a:r>
            <a:endParaRPr sz="1100"/>
          </a:p>
        </p:txBody>
      </p:sp>
      <p:sp>
        <p:nvSpPr>
          <p:cNvPr id="372" name="Google Shape;372;p37"/>
          <p:cNvSpPr txBox="1"/>
          <p:nvPr/>
        </p:nvSpPr>
        <p:spPr>
          <a:xfrm>
            <a:off x="500629" y="1481420"/>
            <a:ext cx="1110900" cy="177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700" u="none" cap="none" strike="noStrike">
                <a:solidFill>
                  <a:srgbClr val="64748B"/>
                </a:solidFill>
                <a:latin typeface="Arial"/>
                <a:ea typeface="Arial"/>
                <a:cs typeface="Arial"/>
                <a:sym typeface="Arial"/>
              </a:rPr>
              <a:t>baseline</a:t>
            </a:r>
            <a:endParaRPr sz="1200"/>
          </a:p>
        </p:txBody>
      </p:sp>
      <p:sp>
        <p:nvSpPr>
          <p:cNvPr id="373" name="Google Shape;373;p37"/>
          <p:cNvSpPr/>
          <p:nvPr/>
        </p:nvSpPr>
        <p:spPr>
          <a:xfrm>
            <a:off x="1693953" y="1316828"/>
            <a:ext cx="171600" cy="260700"/>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4" name="Google Shape;374;p37"/>
          <p:cNvSpPr/>
          <p:nvPr/>
        </p:nvSpPr>
        <p:spPr>
          <a:xfrm>
            <a:off x="1885975" y="1104225"/>
            <a:ext cx="1220700" cy="994200"/>
          </a:xfrm>
          <a:prstGeom prst="roundRect">
            <a:avLst>
              <a:gd fmla="val 16667" name="adj"/>
            </a:avLst>
          </a:prstGeom>
          <a:solidFill>
            <a:srgbClr val="E2F4F3"/>
          </a:solidFill>
          <a:ln cap="flat" cmpd="sng" w="9525">
            <a:solidFill>
              <a:srgbClr val="23858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5" name="Google Shape;375;p37"/>
          <p:cNvSpPr txBox="1"/>
          <p:nvPr/>
        </p:nvSpPr>
        <p:spPr>
          <a:xfrm>
            <a:off x="1940848" y="1268822"/>
            <a:ext cx="11109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14263F"/>
                </a:solidFill>
                <a:latin typeface="Arial"/>
                <a:ea typeface="Arial"/>
                <a:cs typeface="Arial"/>
                <a:sym typeface="Arial"/>
              </a:rPr>
              <a:t>CatBoost</a:t>
            </a:r>
            <a:endParaRPr sz="1100"/>
          </a:p>
        </p:txBody>
      </p:sp>
      <p:sp>
        <p:nvSpPr>
          <p:cNvPr id="376" name="Google Shape;376;p37"/>
          <p:cNvSpPr txBox="1"/>
          <p:nvPr/>
        </p:nvSpPr>
        <p:spPr>
          <a:xfrm>
            <a:off x="1944423" y="1394420"/>
            <a:ext cx="1110900" cy="6081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700">
                <a:solidFill>
                  <a:srgbClr val="64748B"/>
                </a:solidFill>
              </a:rPr>
              <a:t>was tested with basic features then basic features + one lag feature then all features with multiple day lag </a:t>
            </a:r>
            <a:endParaRPr sz="700">
              <a:solidFill>
                <a:srgbClr val="64748B"/>
              </a:solidFill>
            </a:endParaRPr>
          </a:p>
        </p:txBody>
      </p:sp>
      <p:sp>
        <p:nvSpPr>
          <p:cNvPr id="377" name="Google Shape;377;p37"/>
          <p:cNvSpPr/>
          <p:nvPr/>
        </p:nvSpPr>
        <p:spPr>
          <a:xfrm>
            <a:off x="3134171" y="1316828"/>
            <a:ext cx="171600" cy="260700"/>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8" name="Google Shape;378;p37"/>
          <p:cNvSpPr/>
          <p:nvPr/>
        </p:nvSpPr>
        <p:spPr>
          <a:xfrm>
            <a:off x="3326200" y="1104230"/>
            <a:ext cx="1405800" cy="720000"/>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9" name="Google Shape;379;p37"/>
          <p:cNvSpPr txBox="1"/>
          <p:nvPr/>
        </p:nvSpPr>
        <p:spPr>
          <a:xfrm>
            <a:off x="3381066" y="1268822"/>
            <a:ext cx="12963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800">
                <a:solidFill>
                  <a:srgbClr val="14263F"/>
                </a:solidFill>
              </a:rPr>
              <a:t>Hist Gradient Boosting</a:t>
            </a:r>
            <a:endParaRPr sz="1100"/>
          </a:p>
        </p:txBody>
      </p:sp>
      <p:sp>
        <p:nvSpPr>
          <p:cNvPr id="380" name="Google Shape;380;p37"/>
          <p:cNvSpPr/>
          <p:nvPr/>
        </p:nvSpPr>
        <p:spPr>
          <a:xfrm>
            <a:off x="4759561" y="1316828"/>
            <a:ext cx="171600" cy="260700"/>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1" name="Google Shape;381;p37"/>
          <p:cNvSpPr/>
          <p:nvPr/>
        </p:nvSpPr>
        <p:spPr>
          <a:xfrm>
            <a:off x="4951590" y="1104230"/>
            <a:ext cx="1220700" cy="720000"/>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2" name="Google Shape;382;p37"/>
          <p:cNvSpPr txBox="1"/>
          <p:nvPr/>
        </p:nvSpPr>
        <p:spPr>
          <a:xfrm>
            <a:off x="5006455" y="1268822"/>
            <a:ext cx="11109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14263F"/>
                </a:solidFill>
                <a:latin typeface="Arial"/>
                <a:ea typeface="Arial"/>
                <a:cs typeface="Arial"/>
                <a:sym typeface="Arial"/>
              </a:rPr>
              <a:t>Ridge</a:t>
            </a:r>
            <a:endParaRPr sz="1100"/>
          </a:p>
        </p:txBody>
      </p:sp>
      <p:sp>
        <p:nvSpPr>
          <p:cNvPr id="383" name="Google Shape;383;p37"/>
          <p:cNvSpPr txBox="1"/>
          <p:nvPr/>
        </p:nvSpPr>
        <p:spPr>
          <a:xfrm>
            <a:off x="5006455" y="1481420"/>
            <a:ext cx="1110900" cy="284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700" u="none" cap="none" strike="noStrike">
                <a:solidFill>
                  <a:srgbClr val="64748B"/>
                </a:solidFill>
                <a:latin typeface="Arial"/>
                <a:ea typeface="Arial"/>
                <a:cs typeface="Arial"/>
                <a:sym typeface="Arial"/>
              </a:rPr>
              <a:t>linear comparison needed preprocessin</a:t>
            </a:r>
            <a:r>
              <a:rPr lang="en" sz="700">
                <a:solidFill>
                  <a:srgbClr val="64748B"/>
                </a:solidFill>
              </a:rPr>
              <a:t>g</a:t>
            </a:r>
            <a:endParaRPr sz="1200"/>
          </a:p>
        </p:txBody>
      </p:sp>
      <p:sp>
        <p:nvSpPr>
          <p:cNvPr id="384" name="Google Shape;384;p37"/>
          <p:cNvSpPr/>
          <p:nvPr/>
        </p:nvSpPr>
        <p:spPr>
          <a:xfrm>
            <a:off x="6199779" y="1316828"/>
            <a:ext cx="171600" cy="260700"/>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5" name="Google Shape;385;p37"/>
          <p:cNvSpPr/>
          <p:nvPr/>
        </p:nvSpPr>
        <p:spPr>
          <a:xfrm>
            <a:off x="6391808" y="1104230"/>
            <a:ext cx="1220700" cy="720000"/>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6" name="Google Shape;386;p37"/>
          <p:cNvSpPr txBox="1"/>
          <p:nvPr/>
        </p:nvSpPr>
        <p:spPr>
          <a:xfrm>
            <a:off x="6446674" y="1268822"/>
            <a:ext cx="11109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14263F"/>
                </a:solidFill>
                <a:latin typeface="Arial"/>
                <a:ea typeface="Arial"/>
                <a:cs typeface="Arial"/>
                <a:sym typeface="Arial"/>
              </a:rPr>
              <a:t>XGBoost</a:t>
            </a:r>
            <a:endParaRPr sz="1100"/>
          </a:p>
        </p:txBody>
      </p:sp>
      <p:sp>
        <p:nvSpPr>
          <p:cNvPr id="387" name="Google Shape;387;p37"/>
          <p:cNvSpPr txBox="1"/>
          <p:nvPr/>
        </p:nvSpPr>
        <p:spPr>
          <a:xfrm>
            <a:off x="6446674" y="1481420"/>
            <a:ext cx="1110900" cy="177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700">
                <a:solidFill>
                  <a:srgbClr val="64748B"/>
                </a:solidFill>
              </a:rPr>
              <a:t>Needed preprocessing</a:t>
            </a:r>
            <a:endParaRPr sz="1200"/>
          </a:p>
        </p:txBody>
      </p:sp>
      <p:sp>
        <p:nvSpPr>
          <p:cNvPr id="388" name="Google Shape;388;p37"/>
          <p:cNvSpPr/>
          <p:nvPr/>
        </p:nvSpPr>
        <p:spPr>
          <a:xfrm>
            <a:off x="7639997" y="1316828"/>
            <a:ext cx="171600" cy="260700"/>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9" name="Google Shape;389;p37"/>
          <p:cNvSpPr/>
          <p:nvPr/>
        </p:nvSpPr>
        <p:spPr>
          <a:xfrm>
            <a:off x="7832027" y="1104230"/>
            <a:ext cx="1220700" cy="720000"/>
          </a:xfrm>
          <a:prstGeom prst="roundRect">
            <a:avLst>
              <a:gd fmla="val 16667" name="adj"/>
            </a:avLst>
          </a:prstGeom>
          <a:solidFill>
            <a:srgbClr val="E2F4F3"/>
          </a:solidFill>
          <a:ln cap="flat" cmpd="sng" w="9525">
            <a:solidFill>
              <a:srgbClr val="23858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0" name="Google Shape;390;p37"/>
          <p:cNvSpPr txBox="1"/>
          <p:nvPr/>
        </p:nvSpPr>
        <p:spPr>
          <a:xfrm>
            <a:off x="7886892" y="1268822"/>
            <a:ext cx="11109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14263F"/>
                </a:solidFill>
                <a:latin typeface="Arial"/>
                <a:ea typeface="Arial"/>
                <a:cs typeface="Arial"/>
                <a:sym typeface="Arial"/>
              </a:rPr>
              <a:t>Ensemble</a:t>
            </a:r>
            <a:endParaRPr sz="1100"/>
          </a:p>
        </p:txBody>
      </p:sp>
      <p:sp>
        <p:nvSpPr>
          <p:cNvPr id="391" name="Google Shape;391;p37"/>
          <p:cNvSpPr txBox="1"/>
          <p:nvPr/>
        </p:nvSpPr>
        <p:spPr>
          <a:xfrm>
            <a:off x="651527" y="2640330"/>
            <a:ext cx="2400364"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4263F"/>
                </a:solidFill>
                <a:latin typeface="Arial"/>
                <a:ea typeface="Arial"/>
                <a:cs typeface="Arial"/>
                <a:sym typeface="Arial"/>
              </a:rPr>
              <a:t>Why these models?</a:t>
            </a:r>
            <a:endParaRPr sz="1100"/>
          </a:p>
        </p:txBody>
      </p:sp>
      <p:sp>
        <p:nvSpPr>
          <p:cNvPr id="392" name="Google Shape;392;p37"/>
          <p:cNvSpPr txBox="1"/>
          <p:nvPr/>
        </p:nvSpPr>
        <p:spPr>
          <a:xfrm>
            <a:off x="651527" y="2948940"/>
            <a:ext cx="857273"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238589"/>
                </a:solidFill>
                <a:latin typeface="Arial"/>
                <a:ea typeface="Arial"/>
                <a:cs typeface="Arial"/>
                <a:sym typeface="Arial"/>
              </a:rPr>
              <a:t>Persistence</a:t>
            </a:r>
            <a:endParaRPr sz="1100"/>
          </a:p>
        </p:txBody>
      </p:sp>
      <p:sp>
        <p:nvSpPr>
          <p:cNvPr id="393" name="Google Shape;393;p37"/>
          <p:cNvSpPr txBox="1"/>
          <p:nvPr/>
        </p:nvSpPr>
        <p:spPr>
          <a:xfrm>
            <a:off x="1405927" y="2942082"/>
            <a:ext cx="3669128" cy="28803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tests whether models can beat a simple “tomorrow ≈ today” assumption.</a:t>
            </a:r>
            <a:endParaRPr sz="1100"/>
          </a:p>
        </p:txBody>
      </p:sp>
      <p:sp>
        <p:nvSpPr>
          <p:cNvPr id="394" name="Google Shape;394;p37"/>
          <p:cNvSpPr txBox="1"/>
          <p:nvPr/>
        </p:nvSpPr>
        <p:spPr>
          <a:xfrm>
            <a:off x="651527" y="3326130"/>
            <a:ext cx="857273"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238589"/>
                </a:solidFill>
                <a:latin typeface="Arial"/>
                <a:ea typeface="Arial"/>
                <a:cs typeface="Arial"/>
                <a:sym typeface="Arial"/>
              </a:rPr>
              <a:t>Tree models</a:t>
            </a:r>
            <a:endParaRPr sz="1100"/>
          </a:p>
        </p:txBody>
      </p:sp>
      <p:sp>
        <p:nvSpPr>
          <p:cNvPr id="395" name="Google Shape;395;p37"/>
          <p:cNvSpPr txBox="1"/>
          <p:nvPr/>
        </p:nvSpPr>
        <p:spPr>
          <a:xfrm>
            <a:off x="1405927" y="3319272"/>
            <a:ext cx="3669128" cy="28803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capture nonlinear relationships without requiring heavy scaling.</a:t>
            </a:r>
            <a:endParaRPr sz="1100"/>
          </a:p>
        </p:txBody>
      </p:sp>
      <p:sp>
        <p:nvSpPr>
          <p:cNvPr id="396" name="Google Shape;396;p37"/>
          <p:cNvSpPr txBox="1"/>
          <p:nvPr/>
        </p:nvSpPr>
        <p:spPr>
          <a:xfrm>
            <a:off x="651527" y="3703319"/>
            <a:ext cx="857273"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238589"/>
                </a:solidFill>
                <a:latin typeface="Arial"/>
                <a:ea typeface="Arial"/>
                <a:cs typeface="Arial"/>
                <a:sym typeface="Arial"/>
              </a:rPr>
              <a:t>Ridge</a:t>
            </a:r>
            <a:endParaRPr sz="1100"/>
          </a:p>
        </p:txBody>
      </p:sp>
      <p:sp>
        <p:nvSpPr>
          <p:cNvPr id="397" name="Google Shape;397;p37"/>
          <p:cNvSpPr txBox="1"/>
          <p:nvPr/>
        </p:nvSpPr>
        <p:spPr>
          <a:xfrm>
            <a:off x="1405927" y="3696462"/>
            <a:ext cx="3669128" cy="28803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provides a regularized linear benchmark with imputation, scaling, and one-hot encoding.</a:t>
            </a:r>
            <a:endParaRPr sz="1100"/>
          </a:p>
        </p:txBody>
      </p:sp>
      <p:sp>
        <p:nvSpPr>
          <p:cNvPr id="398" name="Google Shape;398;p37"/>
          <p:cNvSpPr txBox="1"/>
          <p:nvPr/>
        </p:nvSpPr>
        <p:spPr>
          <a:xfrm>
            <a:off x="651527" y="4080509"/>
            <a:ext cx="857273"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238589"/>
                </a:solidFill>
                <a:latin typeface="Arial"/>
                <a:ea typeface="Arial"/>
                <a:cs typeface="Arial"/>
                <a:sym typeface="Arial"/>
              </a:rPr>
              <a:t>Ensemble</a:t>
            </a:r>
            <a:endParaRPr sz="1100"/>
          </a:p>
        </p:txBody>
      </p:sp>
      <p:sp>
        <p:nvSpPr>
          <p:cNvPr id="399" name="Google Shape;399;p37"/>
          <p:cNvSpPr txBox="1"/>
          <p:nvPr/>
        </p:nvSpPr>
        <p:spPr>
          <a:xfrm>
            <a:off x="1405927" y="4073652"/>
            <a:ext cx="3669128" cy="28803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tests whether CatBoost and Ridge make complementary errors.</a:t>
            </a:r>
            <a:endParaRPr sz="1100"/>
          </a:p>
        </p:txBody>
      </p:sp>
      <p:sp>
        <p:nvSpPr>
          <p:cNvPr id="400" name="Google Shape;400;p37"/>
          <p:cNvSpPr/>
          <p:nvPr/>
        </p:nvSpPr>
        <p:spPr>
          <a:xfrm>
            <a:off x="5520837" y="2571750"/>
            <a:ext cx="2983309" cy="1728216"/>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1" name="Google Shape;401;p37"/>
          <p:cNvSpPr txBox="1"/>
          <p:nvPr/>
        </p:nvSpPr>
        <p:spPr>
          <a:xfrm>
            <a:off x="5747157" y="2784347"/>
            <a:ext cx="2468946"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u="none" cap="none" strike="noStrike">
                <a:solidFill>
                  <a:srgbClr val="14263F"/>
                </a:solidFill>
                <a:latin typeface="Arial"/>
                <a:ea typeface="Arial"/>
                <a:cs typeface="Arial"/>
                <a:sym typeface="Arial"/>
              </a:rPr>
              <a:t>Model selection rule</a:t>
            </a:r>
            <a:endParaRPr sz="1100"/>
          </a:p>
        </p:txBody>
      </p:sp>
      <p:sp>
        <p:nvSpPr>
          <p:cNvPr id="402" name="Google Shape;402;p37"/>
          <p:cNvSpPr txBox="1"/>
          <p:nvPr/>
        </p:nvSpPr>
        <p:spPr>
          <a:xfrm>
            <a:off x="5747157" y="3120390"/>
            <a:ext cx="2468946" cy="4114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2D3748"/>
                </a:solidFill>
                <a:latin typeface="Arial"/>
                <a:ea typeface="Arial"/>
                <a:cs typeface="Arial"/>
                <a:sym typeface="Arial"/>
              </a:rPr>
              <a:t>Validation performance was used to choose hyperparameters, feature sets, and ensemble weights.</a:t>
            </a:r>
            <a:endParaRPr sz="1100"/>
          </a:p>
        </p:txBody>
      </p:sp>
      <p:sp>
        <p:nvSpPr>
          <p:cNvPr id="403" name="Google Shape;403;p37"/>
          <p:cNvSpPr txBox="1"/>
          <p:nvPr/>
        </p:nvSpPr>
        <p:spPr>
          <a:xfrm>
            <a:off x="5747157" y="3758184"/>
            <a:ext cx="2468946" cy="21945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00" u="none" cap="none" strike="noStrike">
                <a:solidFill>
                  <a:srgbClr val="2D67B5"/>
                </a:solidFill>
                <a:latin typeface="Arial"/>
                <a:ea typeface="Arial"/>
                <a:cs typeface="Arial"/>
                <a:sym typeface="Arial"/>
              </a:rPr>
              <a:t>The test set was used only for final evaluation.</a:t>
            </a:r>
            <a:endParaRPr sz="1100"/>
          </a:p>
        </p:txBody>
      </p:sp>
      <p:sp>
        <p:nvSpPr>
          <p:cNvPr id="404" name="Google Shape;404;p37"/>
          <p:cNvSpPr txBox="1"/>
          <p:nvPr/>
        </p:nvSpPr>
        <p:spPr>
          <a:xfrm>
            <a:off x="445782" y="4924044"/>
            <a:ext cx="5829455" cy="12344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600" u="none" cap="none" strike="noStrike">
                <a:solidFill>
                  <a:srgbClr val="64748B"/>
                </a:solidFill>
                <a:latin typeface="Arial"/>
                <a:ea typeface="Arial"/>
                <a:cs typeface="Arial"/>
                <a:sym typeface="Arial"/>
              </a:rPr>
              <a:t>Rola Elabd  |  Weather Trend Forecasting</a:t>
            </a:r>
            <a:endParaRPr sz="1100"/>
          </a:p>
        </p:txBody>
      </p:sp>
      <p:sp>
        <p:nvSpPr>
          <p:cNvPr id="405" name="Google Shape;405;p37"/>
          <p:cNvSpPr txBox="1"/>
          <p:nvPr/>
        </p:nvSpPr>
        <p:spPr>
          <a:xfrm>
            <a:off x="8298401" y="4924044"/>
            <a:ext cx="377200" cy="123444"/>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 sz="600" u="none" cap="none" strike="noStrike">
                <a:solidFill>
                  <a:srgbClr val="64748B"/>
                </a:solidFill>
                <a:latin typeface="Arial"/>
                <a:ea typeface="Arial"/>
                <a:cs typeface="Arial"/>
                <a:sym typeface="Arial"/>
              </a:rPr>
              <a:t>11</a:t>
            </a:r>
            <a:endParaRPr sz="1100"/>
          </a:p>
        </p:txBody>
      </p:sp>
      <p:sp>
        <p:nvSpPr>
          <p:cNvPr id="406" name="Google Shape;406;p37"/>
          <p:cNvSpPr/>
          <p:nvPr/>
        </p:nvSpPr>
        <p:spPr>
          <a:xfrm>
            <a:off x="474300" y="528124"/>
            <a:ext cx="8195400" cy="411600"/>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7" name="Google Shape;407;p37"/>
          <p:cNvSpPr txBox="1"/>
          <p:nvPr/>
        </p:nvSpPr>
        <p:spPr>
          <a:xfrm>
            <a:off x="651525" y="560825"/>
            <a:ext cx="8195400" cy="346200"/>
          </a:xfrm>
          <a:prstGeom prst="rect">
            <a:avLst/>
          </a:prstGeom>
          <a:noFill/>
          <a:ln>
            <a:noFill/>
          </a:ln>
        </p:spPr>
        <p:txBody>
          <a:bodyPr anchorCtr="0" anchor="ctr" bIns="34275" lIns="68575" spcFirstLastPara="1" rIns="68575" wrap="square" tIns="34275">
            <a:spAutoFit/>
          </a:bodyPr>
          <a:lstStyle/>
          <a:p>
            <a:pPr indent="0" lvl="0" marL="0" marR="0" rtl="0" algn="l">
              <a:spcBef>
                <a:spcPts val="0"/>
              </a:spcBef>
              <a:spcAft>
                <a:spcPts val="0"/>
              </a:spcAft>
              <a:buNone/>
            </a:pPr>
            <a:r>
              <a:rPr b="1" lang="en" sz="900">
                <a:solidFill>
                  <a:srgbClr val="14263F"/>
                </a:solidFill>
              </a:rPr>
              <a:t>Each model was </a:t>
            </a:r>
            <a:r>
              <a:rPr b="1" lang="en" sz="900">
                <a:solidFill>
                  <a:srgbClr val="14263F"/>
                </a:solidFill>
              </a:rPr>
              <a:t>approached</a:t>
            </a:r>
            <a:r>
              <a:rPr b="1" lang="en" sz="900">
                <a:solidFill>
                  <a:srgbClr val="14263F"/>
                </a:solidFill>
              </a:rPr>
              <a:t> </a:t>
            </a:r>
            <a:r>
              <a:rPr b="1" lang="en" sz="900">
                <a:solidFill>
                  <a:srgbClr val="14263F"/>
                </a:solidFill>
              </a:rPr>
              <a:t>differently, some can handle missing values and others needed imputation, some others could handle features as is without scaling and other needed scaling and encoding to ensure good prediction results</a:t>
            </a:r>
            <a:endParaRPr b="1" sz="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11" name="Shape 411"/>
        <p:cNvGrpSpPr/>
        <p:nvPr/>
      </p:nvGrpSpPr>
      <p:grpSpPr>
        <a:xfrm>
          <a:off x="0" y="0"/>
          <a:ext cx="0" cy="0"/>
          <a:chOff x="0" y="0"/>
          <a:chExt cx="0" cy="0"/>
        </a:xfrm>
      </p:grpSpPr>
      <p:sp>
        <p:nvSpPr>
          <p:cNvPr id="412" name="Google Shape;412;p38"/>
          <p:cNvSpPr txBox="1"/>
          <p:nvPr/>
        </p:nvSpPr>
        <p:spPr>
          <a:xfrm>
            <a:off x="480073" y="288036"/>
            <a:ext cx="802407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4263F"/>
                </a:solidFill>
                <a:latin typeface="Arial"/>
                <a:ea typeface="Arial"/>
                <a:cs typeface="Arial"/>
                <a:sym typeface="Arial"/>
              </a:rPr>
              <a:t>Feature Importance &amp; SHAP</a:t>
            </a:r>
            <a:endParaRPr sz="1100"/>
          </a:p>
        </p:txBody>
      </p:sp>
      <p:sp>
        <p:nvSpPr>
          <p:cNvPr id="413" name="Google Shape;413;p38"/>
          <p:cNvSpPr txBox="1"/>
          <p:nvPr/>
        </p:nvSpPr>
        <p:spPr>
          <a:xfrm>
            <a:off x="5795164" y="1474470"/>
            <a:ext cx="2537528"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4263F"/>
                </a:solidFill>
                <a:latin typeface="Arial"/>
                <a:ea typeface="Arial"/>
                <a:cs typeface="Arial"/>
                <a:sym typeface="Arial"/>
              </a:rPr>
              <a:t>What the model learned</a:t>
            </a:r>
            <a:endParaRPr sz="1100"/>
          </a:p>
        </p:txBody>
      </p:sp>
      <p:sp>
        <p:nvSpPr>
          <p:cNvPr id="414" name="Google Shape;414;p38"/>
          <p:cNvSpPr txBox="1"/>
          <p:nvPr/>
        </p:nvSpPr>
        <p:spPr>
          <a:xfrm>
            <a:off x="5795164" y="1796796"/>
            <a:ext cx="2434655"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238589"/>
                </a:solidFill>
                <a:latin typeface="Arial"/>
                <a:ea typeface="Arial"/>
                <a:cs typeface="Arial"/>
                <a:sym typeface="Arial"/>
              </a:rPr>
              <a:t>Current temperature dominates</a:t>
            </a:r>
            <a:endParaRPr sz="1100"/>
          </a:p>
        </p:txBody>
      </p:sp>
      <p:sp>
        <p:nvSpPr>
          <p:cNvPr id="415" name="Google Shape;415;p38"/>
          <p:cNvSpPr txBox="1"/>
          <p:nvPr/>
        </p:nvSpPr>
        <p:spPr>
          <a:xfrm>
            <a:off x="5795164" y="1975104"/>
            <a:ext cx="2434655" cy="28803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700" u="none" cap="none" strike="noStrike">
                <a:solidFill>
                  <a:srgbClr val="2D3748"/>
                </a:solidFill>
                <a:latin typeface="Arial"/>
                <a:ea typeface="Arial"/>
                <a:cs typeface="Arial"/>
                <a:sym typeface="Arial"/>
              </a:rPr>
              <a:t>The model relies most on today’s temperature.</a:t>
            </a:r>
            <a:endParaRPr sz="1100"/>
          </a:p>
        </p:txBody>
      </p:sp>
      <p:sp>
        <p:nvSpPr>
          <p:cNvPr id="416" name="Google Shape;416;p38"/>
          <p:cNvSpPr txBox="1"/>
          <p:nvPr/>
        </p:nvSpPr>
        <p:spPr>
          <a:xfrm>
            <a:off x="5795164" y="2372868"/>
            <a:ext cx="2434655"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238589"/>
                </a:solidFill>
                <a:latin typeface="Arial"/>
                <a:ea typeface="Arial"/>
                <a:cs typeface="Arial"/>
                <a:sym typeface="Arial"/>
              </a:rPr>
              <a:t>Recent history matters</a:t>
            </a:r>
            <a:endParaRPr sz="1100"/>
          </a:p>
        </p:txBody>
      </p:sp>
      <p:sp>
        <p:nvSpPr>
          <p:cNvPr id="417" name="Google Shape;417;p38"/>
          <p:cNvSpPr txBox="1"/>
          <p:nvPr/>
        </p:nvSpPr>
        <p:spPr>
          <a:xfrm>
            <a:off x="5795164" y="2551176"/>
            <a:ext cx="2434655" cy="28803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700" u="none" cap="none" strike="noStrike">
                <a:solidFill>
                  <a:srgbClr val="2D3748"/>
                </a:solidFill>
                <a:latin typeface="Arial"/>
                <a:ea typeface="Arial"/>
                <a:cs typeface="Arial"/>
                <a:sym typeface="Arial"/>
              </a:rPr>
              <a:t>The 3-day mean and lag features add important temporal context.</a:t>
            </a:r>
            <a:endParaRPr sz="1100"/>
          </a:p>
        </p:txBody>
      </p:sp>
      <p:sp>
        <p:nvSpPr>
          <p:cNvPr id="418" name="Google Shape;418;p38"/>
          <p:cNvSpPr txBox="1"/>
          <p:nvPr/>
        </p:nvSpPr>
        <p:spPr>
          <a:xfrm>
            <a:off x="5795164" y="2948940"/>
            <a:ext cx="2434655"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238589"/>
                </a:solidFill>
                <a:latin typeface="Arial"/>
                <a:ea typeface="Arial"/>
                <a:cs typeface="Arial"/>
                <a:sym typeface="Arial"/>
              </a:rPr>
              <a:t>Geography and seasonality remain useful</a:t>
            </a:r>
            <a:endParaRPr sz="1100"/>
          </a:p>
        </p:txBody>
      </p:sp>
      <p:sp>
        <p:nvSpPr>
          <p:cNvPr id="419" name="Google Shape;419;p38"/>
          <p:cNvSpPr txBox="1"/>
          <p:nvPr/>
        </p:nvSpPr>
        <p:spPr>
          <a:xfrm>
            <a:off x="5795164" y="3127247"/>
            <a:ext cx="2434655" cy="28803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700" u="none" cap="none" strike="noStrike">
                <a:solidFill>
                  <a:srgbClr val="2D3748"/>
                </a:solidFill>
                <a:latin typeface="Arial"/>
                <a:ea typeface="Arial"/>
                <a:cs typeface="Arial"/>
                <a:sym typeface="Arial"/>
              </a:rPr>
              <a:t>Latitude and day-of-year help adjust for location and seasonal effects.</a:t>
            </a:r>
            <a:endParaRPr sz="1100"/>
          </a:p>
        </p:txBody>
      </p:sp>
      <p:sp>
        <p:nvSpPr>
          <p:cNvPr id="420" name="Google Shape;420;p38"/>
          <p:cNvSpPr txBox="1"/>
          <p:nvPr/>
        </p:nvSpPr>
        <p:spPr>
          <a:xfrm>
            <a:off x="5795164" y="3525012"/>
            <a:ext cx="2434655" cy="1714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238589"/>
                </a:solidFill>
                <a:latin typeface="Arial"/>
                <a:ea typeface="Arial"/>
                <a:cs typeface="Arial"/>
                <a:sym typeface="Arial"/>
              </a:rPr>
              <a:t>Weather variables are secondary</a:t>
            </a:r>
            <a:endParaRPr sz="1100"/>
          </a:p>
        </p:txBody>
      </p:sp>
      <p:sp>
        <p:nvSpPr>
          <p:cNvPr id="421" name="Google Shape;421;p38"/>
          <p:cNvSpPr txBox="1"/>
          <p:nvPr/>
        </p:nvSpPr>
        <p:spPr>
          <a:xfrm>
            <a:off x="5795164" y="3703319"/>
            <a:ext cx="2434655" cy="28803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700" u="none" cap="none" strike="noStrike">
                <a:solidFill>
                  <a:srgbClr val="2D3748"/>
                </a:solidFill>
                <a:latin typeface="Arial"/>
                <a:ea typeface="Arial"/>
                <a:cs typeface="Arial"/>
                <a:sym typeface="Arial"/>
              </a:rPr>
              <a:t>Pressure, humidity, wind, cloud and precipitation add smaller corrections.</a:t>
            </a:r>
            <a:endParaRPr sz="1100"/>
          </a:p>
        </p:txBody>
      </p:sp>
      <p:sp>
        <p:nvSpPr>
          <p:cNvPr id="422" name="Google Shape;422;p38"/>
          <p:cNvSpPr txBox="1"/>
          <p:nvPr/>
        </p:nvSpPr>
        <p:spPr>
          <a:xfrm>
            <a:off x="445782" y="4924044"/>
            <a:ext cx="5829455" cy="12344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600" u="none" cap="none" strike="noStrike">
                <a:solidFill>
                  <a:srgbClr val="64748B"/>
                </a:solidFill>
                <a:latin typeface="Arial"/>
                <a:ea typeface="Arial"/>
                <a:cs typeface="Arial"/>
                <a:sym typeface="Arial"/>
              </a:rPr>
              <a:t>Rola Elabd  |  Weather Trend Forecasting</a:t>
            </a:r>
            <a:endParaRPr sz="1100"/>
          </a:p>
        </p:txBody>
      </p:sp>
      <p:sp>
        <p:nvSpPr>
          <p:cNvPr id="423" name="Google Shape;423;p38"/>
          <p:cNvSpPr txBox="1"/>
          <p:nvPr/>
        </p:nvSpPr>
        <p:spPr>
          <a:xfrm>
            <a:off x="8298401" y="4924044"/>
            <a:ext cx="377200" cy="123444"/>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 sz="600" u="none" cap="none" strike="noStrike">
                <a:solidFill>
                  <a:srgbClr val="64748B"/>
                </a:solidFill>
                <a:latin typeface="Arial"/>
                <a:ea typeface="Arial"/>
                <a:cs typeface="Arial"/>
                <a:sym typeface="Arial"/>
              </a:rPr>
              <a:t>12</a:t>
            </a:r>
            <a:endParaRPr sz="1100"/>
          </a:p>
        </p:txBody>
      </p:sp>
      <p:pic>
        <p:nvPicPr>
          <p:cNvPr id="424" name="Google Shape;424;p38" title="Screenshot 2026-10-01 150851.png"/>
          <p:cNvPicPr preferRelativeResize="0"/>
          <p:nvPr/>
        </p:nvPicPr>
        <p:blipFill>
          <a:blip r:embed="rId3">
            <a:alphaModFix/>
          </a:blip>
          <a:stretch>
            <a:fillRect/>
          </a:stretch>
        </p:blipFill>
        <p:spPr>
          <a:xfrm>
            <a:off x="480075" y="734175"/>
            <a:ext cx="3662376" cy="412091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28" name="Shape 428"/>
        <p:cNvGrpSpPr/>
        <p:nvPr/>
      </p:nvGrpSpPr>
      <p:grpSpPr>
        <a:xfrm>
          <a:off x="0" y="0"/>
          <a:ext cx="0" cy="0"/>
          <a:chOff x="0" y="0"/>
          <a:chExt cx="0" cy="0"/>
        </a:xfrm>
      </p:grpSpPr>
      <p:sp>
        <p:nvSpPr>
          <p:cNvPr id="429" name="Google Shape;429;p39"/>
          <p:cNvSpPr txBox="1"/>
          <p:nvPr/>
        </p:nvSpPr>
        <p:spPr>
          <a:xfrm>
            <a:off x="480073" y="288036"/>
            <a:ext cx="802407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4263F"/>
                </a:solidFill>
                <a:latin typeface="Arial"/>
                <a:ea typeface="Arial"/>
                <a:cs typeface="Arial"/>
                <a:sym typeface="Arial"/>
              </a:rPr>
              <a:t>Model Comparison &amp; Final Ensemble</a:t>
            </a:r>
            <a:endParaRPr sz="1100"/>
          </a:p>
        </p:txBody>
      </p:sp>
      <p:sp>
        <p:nvSpPr>
          <p:cNvPr id="430" name="Google Shape;430;p39"/>
          <p:cNvSpPr/>
          <p:nvPr/>
        </p:nvSpPr>
        <p:spPr>
          <a:xfrm>
            <a:off x="480073" y="768096"/>
            <a:ext cx="8195528" cy="493776"/>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31" name="Google Shape;431;p39"/>
          <p:cNvSpPr txBox="1"/>
          <p:nvPr/>
        </p:nvSpPr>
        <p:spPr>
          <a:xfrm>
            <a:off x="651527" y="891540"/>
            <a:ext cx="7852619" cy="21945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1100" u="none" cap="none" strike="noStrike">
                <a:solidFill>
                  <a:srgbClr val="14263F"/>
                </a:solidFill>
                <a:latin typeface="Arial"/>
                <a:ea typeface="Arial"/>
                <a:cs typeface="Arial"/>
                <a:sym typeface="Arial"/>
              </a:rPr>
              <a:t>Question: Did the final ensemble improve forecasting accuracy?</a:t>
            </a:r>
            <a:endParaRPr sz="1100"/>
          </a:p>
        </p:txBody>
      </p:sp>
      <p:graphicFrame>
        <p:nvGraphicFramePr>
          <p:cNvPr id="432" name="Google Shape;432;p39"/>
          <p:cNvGraphicFramePr/>
          <p:nvPr/>
        </p:nvGraphicFramePr>
        <p:xfrm>
          <a:off x="514364" y="1405889"/>
          <a:ext cx="3000000" cy="3000000"/>
        </p:xfrm>
        <a:graphic>
          <a:graphicData uri="http://schemas.openxmlformats.org/drawingml/2006/table">
            <a:tbl>
              <a:tblPr bandRow="1" firstRow="1">
                <a:noFill/>
                <a:tableStyleId>{7694A9BA-3C51-4E7D-A3CC-E2B2F129DDB0}</a:tableStyleId>
              </a:tblPr>
              <a:tblGrid>
                <a:gridCol w="1260175"/>
                <a:gridCol w="1260175"/>
                <a:gridCol w="1260175"/>
                <a:gridCol w="1260175"/>
              </a:tblGrid>
              <a:tr h="402900">
                <a:tc>
                  <a:txBody>
                    <a:bodyPr/>
                    <a:lstStyle/>
                    <a:p>
                      <a:pPr indent="0" lvl="0" marL="0" marR="0" rtl="0" algn="ctr">
                        <a:spcBef>
                          <a:spcPts val="0"/>
                        </a:spcBef>
                        <a:spcAft>
                          <a:spcPts val="0"/>
                        </a:spcAft>
                        <a:buNone/>
                      </a:pPr>
                      <a:r>
                        <a:rPr b="1" lang="en" sz="800" u="none" cap="none" strike="noStrike">
                          <a:solidFill>
                            <a:srgbClr val="FFFFFF"/>
                          </a:solidFill>
                          <a:latin typeface="Arial"/>
                          <a:ea typeface="Arial"/>
                          <a:cs typeface="Arial"/>
                          <a:sym typeface="Arial"/>
                        </a:rPr>
                        <a:t>Model</a:t>
                      </a:r>
                      <a:endParaRPr sz="1100"/>
                    </a:p>
                  </a:txBody>
                  <a:tcPr marT="34300" marB="34300" marR="68600" marL="68600">
                    <a:solidFill>
                      <a:srgbClr val="14263F"/>
                    </a:solidFill>
                  </a:tcPr>
                </a:tc>
                <a:tc>
                  <a:txBody>
                    <a:bodyPr/>
                    <a:lstStyle/>
                    <a:p>
                      <a:pPr indent="0" lvl="0" marL="0" marR="0" rtl="0" algn="ctr">
                        <a:spcBef>
                          <a:spcPts val="0"/>
                        </a:spcBef>
                        <a:spcAft>
                          <a:spcPts val="0"/>
                        </a:spcAft>
                        <a:buNone/>
                      </a:pPr>
                      <a:r>
                        <a:rPr b="1" lang="en" sz="800" u="none" cap="none" strike="noStrike">
                          <a:solidFill>
                            <a:srgbClr val="FFFFFF"/>
                          </a:solidFill>
                          <a:latin typeface="Arial"/>
                          <a:ea typeface="Arial"/>
                          <a:cs typeface="Arial"/>
                          <a:sym typeface="Arial"/>
                        </a:rPr>
                        <a:t>Test MAE</a:t>
                      </a:r>
                      <a:endParaRPr sz="1100"/>
                    </a:p>
                  </a:txBody>
                  <a:tcPr marT="34300" marB="34300" marR="68600" marL="68600">
                    <a:solidFill>
                      <a:srgbClr val="14263F"/>
                    </a:solidFill>
                  </a:tcPr>
                </a:tc>
                <a:tc>
                  <a:txBody>
                    <a:bodyPr/>
                    <a:lstStyle/>
                    <a:p>
                      <a:pPr indent="0" lvl="0" marL="0" marR="0" rtl="0" algn="ctr">
                        <a:spcBef>
                          <a:spcPts val="0"/>
                        </a:spcBef>
                        <a:spcAft>
                          <a:spcPts val="0"/>
                        </a:spcAft>
                        <a:buNone/>
                      </a:pPr>
                      <a:r>
                        <a:rPr b="1" lang="en" sz="800" u="none" cap="none" strike="noStrike">
                          <a:solidFill>
                            <a:srgbClr val="FFFFFF"/>
                          </a:solidFill>
                          <a:latin typeface="Arial"/>
                          <a:ea typeface="Arial"/>
                          <a:cs typeface="Arial"/>
                          <a:sym typeface="Arial"/>
                        </a:rPr>
                        <a:t>Test RMSE</a:t>
                      </a:r>
                      <a:endParaRPr sz="1100"/>
                    </a:p>
                  </a:txBody>
                  <a:tcPr marT="34300" marB="34300" marR="68600" marL="68600">
                    <a:solidFill>
                      <a:srgbClr val="14263F"/>
                    </a:solidFill>
                  </a:tcPr>
                </a:tc>
                <a:tc>
                  <a:txBody>
                    <a:bodyPr/>
                    <a:lstStyle/>
                    <a:p>
                      <a:pPr indent="0" lvl="0" marL="0" marR="0" rtl="0" algn="ctr">
                        <a:spcBef>
                          <a:spcPts val="0"/>
                        </a:spcBef>
                        <a:spcAft>
                          <a:spcPts val="0"/>
                        </a:spcAft>
                        <a:buNone/>
                      </a:pPr>
                      <a:r>
                        <a:rPr b="1" lang="en" sz="800" u="none" cap="none" strike="noStrike">
                          <a:solidFill>
                            <a:srgbClr val="FFFFFF"/>
                          </a:solidFill>
                          <a:latin typeface="Arial"/>
                          <a:ea typeface="Arial"/>
                          <a:cs typeface="Arial"/>
                          <a:sym typeface="Arial"/>
                        </a:rPr>
                        <a:t>Test R²</a:t>
                      </a:r>
                      <a:endParaRPr sz="1100"/>
                    </a:p>
                  </a:txBody>
                  <a:tcPr marT="34300" marB="34300" marR="68600" marL="68600">
                    <a:solidFill>
                      <a:srgbClr val="14263F"/>
                    </a:solidFill>
                  </a:tcPr>
                </a:tc>
              </a:tr>
              <a:tr h="402900">
                <a:tc>
                  <a:txBody>
                    <a:bodyPr/>
                    <a:lstStyle/>
                    <a:p>
                      <a:pPr indent="0" lvl="0" marL="0" marR="0" rtl="0" algn="l">
                        <a:spcBef>
                          <a:spcPts val="0"/>
                        </a:spcBef>
                        <a:spcAft>
                          <a:spcPts val="0"/>
                        </a:spcAft>
                        <a:buNone/>
                      </a:pPr>
                      <a:r>
                        <a:rPr b="1" lang="en" sz="700" u="none" cap="none" strike="noStrike">
                          <a:solidFill>
                            <a:srgbClr val="14263F"/>
                          </a:solidFill>
                          <a:latin typeface="Arial"/>
                          <a:ea typeface="Arial"/>
                          <a:cs typeface="Arial"/>
                          <a:sym typeface="Arial"/>
                        </a:rPr>
                        <a:t>CatBoost + Ridge Ensemble</a:t>
                      </a:r>
                      <a:endParaRPr sz="1100"/>
                    </a:p>
                  </a:txBody>
                  <a:tcPr marT="34300" marB="34300" marR="68600" marL="68600">
                    <a:solidFill>
                      <a:srgbClr val="E2F4F3"/>
                    </a:solidFill>
                  </a:tcPr>
                </a:tc>
                <a:tc>
                  <a:txBody>
                    <a:bodyPr/>
                    <a:lstStyle/>
                    <a:p>
                      <a:pPr indent="0" lvl="0" marL="0" marR="0" rtl="0" algn="ctr">
                        <a:spcBef>
                          <a:spcPts val="0"/>
                        </a:spcBef>
                        <a:spcAft>
                          <a:spcPts val="0"/>
                        </a:spcAft>
                        <a:buNone/>
                      </a:pPr>
                      <a:r>
                        <a:rPr b="1" lang="en" sz="700" u="none" cap="none" strike="noStrike">
                          <a:solidFill>
                            <a:srgbClr val="14263F"/>
                          </a:solidFill>
                          <a:latin typeface="Arial"/>
                          <a:ea typeface="Arial"/>
                          <a:cs typeface="Arial"/>
                          <a:sym typeface="Arial"/>
                        </a:rPr>
                        <a:t>1.350</a:t>
                      </a:r>
                      <a:endParaRPr sz="1100"/>
                    </a:p>
                  </a:txBody>
                  <a:tcPr marT="34300" marB="34300" marR="68600" marL="68600">
                    <a:solidFill>
                      <a:srgbClr val="E2F4F3"/>
                    </a:solidFill>
                  </a:tcPr>
                </a:tc>
                <a:tc>
                  <a:txBody>
                    <a:bodyPr/>
                    <a:lstStyle/>
                    <a:p>
                      <a:pPr indent="0" lvl="0" marL="0" marR="0" rtl="0" algn="ctr">
                        <a:spcBef>
                          <a:spcPts val="0"/>
                        </a:spcBef>
                        <a:spcAft>
                          <a:spcPts val="0"/>
                        </a:spcAft>
                        <a:buNone/>
                      </a:pPr>
                      <a:r>
                        <a:rPr b="1" lang="en" sz="700" u="none" cap="none" strike="noStrike">
                          <a:solidFill>
                            <a:srgbClr val="14263F"/>
                          </a:solidFill>
                          <a:latin typeface="Arial"/>
                          <a:ea typeface="Arial"/>
                          <a:cs typeface="Arial"/>
                          <a:sym typeface="Arial"/>
                        </a:rPr>
                        <a:t>1.934</a:t>
                      </a:r>
                      <a:endParaRPr sz="1100"/>
                    </a:p>
                  </a:txBody>
                  <a:tcPr marT="34300" marB="34300" marR="68600" marL="68600">
                    <a:solidFill>
                      <a:srgbClr val="E2F4F3"/>
                    </a:solidFill>
                  </a:tcPr>
                </a:tc>
                <a:tc>
                  <a:txBody>
                    <a:bodyPr/>
                    <a:lstStyle/>
                    <a:p>
                      <a:pPr indent="0" lvl="0" marL="0" marR="0" rtl="0" algn="ctr">
                        <a:spcBef>
                          <a:spcPts val="0"/>
                        </a:spcBef>
                        <a:spcAft>
                          <a:spcPts val="0"/>
                        </a:spcAft>
                        <a:buNone/>
                      </a:pPr>
                      <a:r>
                        <a:rPr b="1" lang="en" sz="700" u="none" cap="none" strike="noStrike">
                          <a:solidFill>
                            <a:srgbClr val="14263F"/>
                          </a:solidFill>
                          <a:latin typeface="Arial"/>
                          <a:ea typeface="Arial"/>
                          <a:cs typeface="Arial"/>
                          <a:sym typeface="Arial"/>
                        </a:rPr>
                        <a:t>0.9229</a:t>
                      </a:r>
                      <a:endParaRPr sz="1100"/>
                    </a:p>
                  </a:txBody>
                  <a:tcPr marT="34300" marB="34300" marR="68600" marL="68600">
                    <a:solidFill>
                      <a:srgbClr val="E2F4F3"/>
                    </a:solidFill>
                  </a:tcPr>
                </a:tc>
              </a:tr>
              <a:tr h="402900">
                <a:tc>
                  <a:txBody>
                    <a:bodyPr/>
                    <a:lstStyle/>
                    <a:p>
                      <a:pPr indent="0" lvl="0" marL="0" marR="0" rtl="0" algn="l">
                        <a:spcBef>
                          <a:spcPts val="0"/>
                        </a:spcBef>
                        <a:spcAft>
                          <a:spcPts val="0"/>
                        </a:spcAft>
                        <a:buNone/>
                      </a:pPr>
                      <a:r>
                        <a:rPr b="0" lang="en" sz="700" u="none" cap="none" strike="noStrike">
                          <a:solidFill>
                            <a:srgbClr val="2D3748"/>
                          </a:solidFill>
                          <a:latin typeface="Arial"/>
                          <a:ea typeface="Arial"/>
                          <a:cs typeface="Arial"/>
                          <a:sym typeface="Arial"/>
                        </a:rPr>
                        <a:t>Final CatBoost</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1.360</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1.942</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0.9223</a:t>
                      </a:r>
                      <a:endParaRPr sz="1100"/>
                    </a:p>
                  </a:txBody>
                  <a:tcPr marT="34300" marB="34300" marR="68600" marL="68600">
                    <a:solidFill>
                      <a:srgbClr val="FFFFFF"/>
                    </a:solidFill>
                  </a:tcPr>
                </a:tc>
              </a:tr>
              <a:tr h="402900">
                <a:tc>
                  <a:txBody>
                    <a:bodyPr/>
                    <a:lstStyle/>
                    <a:p>
                      <a:pPr indent="0" lvl="0" marL="0" marR="0" rtl="0" algn="l">
                        <a:spcBef>
                          <a:spcPts val="0"/>
                        </a:spcBef>
                        <a:spcAft>
                          <a:spcPts val="0"/>
                        </a:spcAft>
                        <a:buNone/>
                      </a:pPr>
                      <a:r>
                        <a:rPr b="0" lang="en" sz="700" u="none" cap="none" strike="noStrike">
                          <a:solidFill>
                            <a:srgbClr val="2D3748"/>
                          </a:solidFill>
                          <a:latin typeface="Arial"/>
                          <a:ea typeface="Arial"/>
                          <a:cs typeface="Arial"/>
                          <a:sym typeface="Arial"/>
                        </a:rPr>
                        <a:t>Initial CatBoost</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1.414</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2.008</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0.9169</a:t>
                      </a:r>
                      <a:endParaRPr sz="1100"/>
                    </a:p>
                  </a:txBody>
                  <a:tcPr marT="34300" marB="34300" marR="68600" marL="68600">
                    <a:solidFill>
                      <a:srgbClr val="FFFFFF"/>
                    </a:solidFill>
                  </a:tcPr>
                </a:tc>
              </a:tr>
              <a:tr h="402900">
                <a:tc>
                  <a:txBody>
                    <a:bodyPr/>
                    <a:lstStyle/>
                    <a:p>
                      <a:pPr indent="0" lvl="0" marL="0" marR="0" rtl="0" algn="l">
                        <a:spcBef>
                          <a:spcPts val="0"/>
                        </a:spcBef>
                        <a:spcAft>
                          <a:spcPts val="0"/>
                        </a:spcAft>
                        <a:buNone/>
                      </a:pPr>
                      <a:r>
                        <a:rPr b="0" lang="en" sz="700" u="none" cap="none" strike="noStrike">
                          <a:solidFill>
                            <a:srgbClr val="2D3748"/>
                          </a:solidFill>
                          <a:latin typeface="Arial"/>
                          <a:ea typeface="Arial"/>
                          <a:cs typeface="Arial"/>
                          <a:sym typeface="Arial"/>
                        </a:rPr>
                        <a:t>XGBoost</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1.417</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2.011</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0.9167</a:t>
                      </a:r>
                      <a:endParaRPr sz="1100"/>
                    </a:p>
                  </a:txBody>
                  <a:tcPr marT="34300" marB="34300" marR="68600" marL="68600">
                    <a:solidFill>
                      <a:srgbClr val="FFFFFF"/>
                    </a:solidFill>
                  </a:tcPr>
                </a:tc>
              </a:tr>
              <a:tr h="402900">
                <a:tc>
                  <a:txBody>
                    <a:bodyPr/>
                    <a:lstStyle/>
                    <a:p>
                      <a:pPr indent="0" lvl="0" marL="0" marR="0" rtl="0" algn="l">
                        <a:spcBef>
                          <a:spcPts val="0"/>
                        </a:spcBef>
                        <a:spcAft>
                          <a:spcPts val="0"/>
                        </a:spcAft>
                        <a:buNone/>
                      </a:pPr>
                      <a:r>
                        <a:rPr b="0" lang="en" sz="700" u="none" cap="none" strike="noStrike">
                          <a:solidFill>
                            <a:srgbClr val="2D3748"/>
                          </a:solidFill>
                          <a:latin typeface="Arial"/>
                          <a:ea typeface="Arial"/>
                          <a:cs typeface="Arial"/>
                          <a:sym typeface="Arial"/>
                        </a:rPr>
                        <a:t>HistGradientBoosting</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1.419</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2.017</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0.9162</a:t>
                      </a:r>
                      <a:endParaRPr sz="1100"/>
                    </a:p>
                  </a:txBody>
                  <a:tcPr marT="34300" marB="34300" marR="68600" marL="68600">
                    <a:solidFill>
                      <a:srgbClr val="FFFFFF"/>
                    </a:solidFill>
                  </a:tcPr>
                </a:tc>
              </a:tr>
              <a:tr h="402900">
                <a:tc>
                  <a:txBody>
                    <a:bodyPr/>
                    <a:lstStyle/>
                    <a:p>
                      <a:pPr indent="0" lvl="0" marL="0" marR="0" rtl="0" algn="l">
                        <a:spcBef>
                          <a:spcPts val="0"/>
                        </a:spcBef>
                        <a:spcAft>
                          <a:spcPts val="0"/>
                        </a:spcAft>
                        <a:buNone/>
                      </a:pPr>
                      <a:r>
                        <a:rPr b="0" lang="en" sz="700" u="none" cap="none" strike="noStrike">
                          <a:solidFill>
                            <a:srgbClr val="2D3748"/>
                          </a:solidFill>
                          <a:latin typeface="Arial"/>
                          <a:ea typeface="Arial"/>
                          <a:cs typeface="Arial"/>
                          <a:sym typeface="Arial"/>
                        </a:rPr>
                        <a:t>Ridge</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1.428</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2.035</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0.9147</a:t>
                      </a:r>
                      <a:endParaRPr sz="1100"/>
                    </a:p>
                  </a:txBody>
                  <a:tcPr marT="34300" marB="34300" marR="68600" marL="68600">
                    <a:solidFill>
                      <a:srgbClr val="FFFFFF"/>
                    </a:solidFill>
                  </a:tcPr>
                </a:tc>
              </a:tr>
              <a:tr h="402900">
                <a:tc>
                  <a:txBody>
                    <a:bodyPr/>
                    <a:lstStyle/>
                    <a:p>
                      <a:pPr indent="0" lvl="0" marL="0" marR="0" rtl="0" algn="l">
                        <a:spcBef>
                          <a:spcPts val="0"/>
                        </a:spcBef>
                        <a:spcAft>
                          <a:spcPts val="0"/>
                        </a:spcAft>
                        <a:buNone/>
                      </a:pPr>
                      <a:r>
                        <a:rPr b="0" lang="en" sz="700" u="none" cap="none" strike="noStrike">
                          <a:solidFill>
                            <a:srgbClr val="2D3748"/>
                          </a:solidFill>
                          <a:latin typeface="Arial"/>
                          <a:ea typeface="Arial"/>
                          <a:cs typeface="Arial"/>
                          <a:sym typeface="Arial"/>
                        </a:rPr>
                        <a:t>Persistence</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1.445</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2.126</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0.9069</a:t>
                      </a:r>
                      <a:endParaRPr sz="1100"/>
                    </a:p>
                  </a:txBody>
                  <a:tcPr marT="34300" marB="34300" marR="68600" marL="68600">
                    <a:solidFill>
                      <a:srgbClr val="FFFFFF"/>
                    </a:solidFill>
                  </a:tcPr>
                </a:tc>
              </a:tr>
            </a:tbl>
          </a:graphicData>
        </a:graphic>
      </p:graphicFrame>
      <p:sp>
        <p:nvSpPr>
          <p:cNvPr id="433" name="Google Shape;433;p39"/>
          <p:cNvSpPr/>
          <p:nvPr/>
        </p:nvSpPr>
        <p:spPr>
          <a:xfrm>
            <a:off x="5863746" y="1405889"/>
            <a:ext cx="2571819" cy="3223260"/>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34" name="Google Shape;434;p39"/>
          <p:cNvSpPr txBox="1"/>
          <p:nvPr/>
        </p:nvSpPr>
        <p:spPr>
          <a:xfrm>
            <a:off x="6090066" y="1618488"/>
            <a:ext cx="2126037" cy="21945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4263F"/>
                </a:solidFill>
                <a:latin typeface="Arial"/>
                <a:ea typeface="Arial"/>
                <a:cs typeface="Arial"/>
                <a:sym typeface="Arial"/>
              </a:rPr>
              <a:t>Final predictor</a:t>
            </a:r>
            <a:endParaRPr sz="1100"/>
          </a:p>
        </p:txBody>
      </p:sp>
      <p:sp>
        <p:nvSpPr>
          <p:cNvPr id="435" name="Google Shape;435;p39"/>
          <p:cNvSpPr/>
          <p:nvPr/>
        </p:nvSpPr>
        <p:spPr>
          <a:xfrm>
            <a:off x="6117499" y="2091690"/>
            <a:ext cx="1063018" cy="425196"/>
          </a:xfrm>
          <a:prstGeom prst="roundRect">
            <a:avLst>
              <a:gd fmla="val 16667" name="adj"/>
            </a:avLst>
          </a:prstGeom>
          <a:solidFill>
            <a:srgbClr val="E8F2F9"/>
          </a:solidFill>
          <a:ln cap="flat" cmpd="sng" w="9525">
            <a:solidFill>
              <a:srgbClr val="2D67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36" name="Google Shape;436;p39"/>
          <p:cNvSpPr txBox="1"/>
          <p:nvPr/>
        </p:nvSpPr>
        <p:spPr>
          <a:xfrm>
            <a:off x="6186081" y="2180843"/>
            <a:ext cx="617236" cy="13716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14263F"/>
                </a:solidFill>
                <a:latin typeface="Arial"/>
                <a:ea typeface="Arial"/>
                <a:cs typeface="Arial"/>
                <a:sym typeface="Arial"/>
              </a:rPr>
              <a:t>CatBoost</a:t>
            </a:r>
            <a:endParaRPr sz="1100"/>
          </a:p>
        </p:txBody>
      </p:sp>
      <p:sp>
        <p:nvSpPr>
          <p:cNvPr id="437" name="Google Shape;437;p39"/>
          <p:cNvSpPr txBox="1"/>
          <p:nvPr/>
        </p:nvSpPr>
        <p:spPr>
          <a:xfrm>
            <a:off x="6734726" y="2180850"/>
            <a:ext cx="5007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2D67B5"/>
                </a:solidFill>
                <a:latin typeface="Arial"/>
                <a:ea typeface="Arial"/>
                <a:cs typeface="Arial"/>
                <a:sym typeface="Arial"/>
              </a:rPr>
              <a:t>70%</a:t>
            </a:r>
            <a:endParaRPr sz="1100"/>
          </a:p>
        </p:txBody>
      </p:sp>
      <p:sp>
        <p:nvSpPr>
          <p:cNvPr id="438" name="Google Shape;438;p39"/>
          <p:cNvSpPr/>
          <p:nvPr/>
        </p:nvSpPr>
        <p:spPr>
          <a:xfrm>
            <a:off x="6117499" y="2777490"/>
            <a:ext cx="1063018" cy="425196"/>
          </a:xfrm>
          <a:prstGeom prst="roundRect">
            <a:avLst>
              <a:gd fmla="val 16667" name="adj"/>
            </a:avLst>
          </a:prstGeom>
          <a:solidFill>
            <a:srgbClr val="E2F4F3"/>
          </a:solidFill>
          <a:ln cap="flat" cmpd="sng" w="9525">
            <a:solidFill>
              <a:srgbClr val="23858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39" name="Google Shape;439;p39"/>
          <p:cNvSpPr txBox="1"/>
          <p:nvPr/>
        </p:nvSpPr>
        <p:spPr>
          <a:xfrm>
            <a:off x="6186081" y="2866643"/>
            <a:ext cx="617236" cy="13716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14263F"/>
                </a:solidFill>
                <a:latin typeface="Arial"/>
                <a:ea typeface="Arial"/>
                <a:cs typeface="Arial"/>
                <a:sym typeface="Arial"/>
              </a:rPr>
              <a:t>Ridge</a:t>
            </a:r>
            <a:endParaRPr sz="1100"/>
          </a:p>
        </p:txBody>
      </p:sp>
      <p:sp>
        <p:nvSpPr>
          <p:cNvPr id="440" name="Google Shape;440;p39"/>
          <p:cNvSpPr txBox="1"/>
          <p:nvPr/>
        </p:nvSpPr>
        <p:spPr>
          <a:xfrm>
            <a:off x="6734725" y="2866650"/>
            <a:ext cx="5007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238589"/>
                </a:solidFill>
                <a:latin typeface="Arial"/>
                <a:ea typeface="Arial"/>
                <a:cs typeface="Arial"/>
                <a:sym typeface="Arial"/>
              </a:rPr>
              <a:t>30%</a:t>
            </a:r>
            <a:endParaRPr sz="1100"/>
          </a:p>
        </p:txBody>
      </p:sp>
      <p:sp>
        <p:nvSpPr>
          <p:cNvPr id="441" name="Google Shape;441;p39"/>
          <p:cNvSpPr txBox="1"/>
          <p:nvPr/>
        </p:nvSpPr>
        <p:spPr>
          <a:xfrm>
            <a:off x="7454840" y="2390015"/>
            <a:ext cx="925800" cy="315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800" u="none" cap="none" strike="noStrike">
                <a:solidFill>
                  <a:srgbClr val="64748B"/>
                </a:solidFill>
                <a:latin typeface="Arial"/>
                <a:ea typeface="Arial"/>
                <a:cs typeface="Arial"/>
                <a:sym typeface="Arial"/>
              </a:rPr>
              <a:t>weighted average</a:t>
            </a:r>
            <a:endParaRPr sz="1100"/>
          </a:p>
        </p:txBody>
      </p:sp>
      <p:sp>
        <p:nvSpPr>
          <p:cNvPr id="442" name="Google Shape;442;p39"/>
          <p:cNvSpPr/>
          <p:nvPr/>
        </p:nvSpPr>
        <p:spPr>
          <a:xfrm>
            <a:off x="7235383" y="2482596"/>
            <a:ext cx="377200" cy="171450"/>
          </a:xfrm>
          <a:prstGeom prst="rightArrow">
            <a:avLst>
              <a:gd fmla="val 50000" name="adj1"/>
              <a:gd fmla="val 50000" name="adj2"/>
            </a:avLst>
          </a:prstGeom>
          <a:solidFill>
            <a:srgbClr val="64748B"/>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43" name="Google Shape;443;p39"/>
          <p:cNvSpPr/>
          <p:nvPr/>
        </p:nvSpPr>
        <p:spPr>
          <a:xfrm>
            <a:off x="6206655" y="3669030"/>
            <a:ext cx="1886000" cy="480060"/>
          </a:xfrm>
          <a:prstGeom prst="roundRect">
            <a:avLst>
              <a:gd fmla="val 16667" name="adj"/>
            </a:avLst>
          </a:prstGeom>
          <a:solidFill>
            <a:srgbClr val="E8F2F9"/>
          </a:solidFill>
          <a:ln cap="flat" cmpd="sng" w="9525">
            <a:solidFill>
              <a:srgbClr val="2D67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44" name="Google Shape;444;p39"/>
          <p:cNvSpPr txBox="1"/>
          <p:nvPr/>
        </p:nvSpPr>
        <p:spPr>
          <a:xfrm>
            <a:off x="6412401" y="3758184"/>
            <a:ext cx="1474509" cy="13716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2D67B5"/>
                </a:solidFill>
                <a:latin typeface="Arial"/>
                <a:ea typeface="Arial"/>
                <a:cs typeface="Arial"/>
                <a:sym typeface="Arial"/>
              </a:rPr>
              <a:t>Final Ensemble Test</a:t>
            </a:r>
            <a:endParaRPr sz="1100"/>
          </a:p>
        </p:txBody>
      </p:sp>
      <p:sp>
        <p:nvSpPr>
          <p:cNvPr id="445" name="Google Shape;445;p39"/>
          <p:cNvSpPr txBox="1"/>
          <p:nvPr/>
        </p:nvSpPr>
        <p:spPr>
          <a:xfrm>
            <a:off x="6343819" y="3943350"/>
            <a:ext cx="1611600" cy="177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700" u="none" cap="none" strike="noStrike">
                <a:solidFill>
                  <a:srgbClr val="14263F"/>
                </a:solidFill>
                <a:latin typeface="Arial"/>
                <a:ea typeface="Arial"/>
                <a:cs typeface="Arial"/>
                <a:sym typeface="Arial"/>
              </a:rPr>
              <a:t>MAE 1.350 |  RMSE 1.934</a:t>
            </a:r>
            <a:endParaRPr sz="1100"/>
          </a:p>
        </p:txBody>
      </p:sp>
      <p:sp>
        <p:nvSpPr>
          <p:cNvPr id="446" name="Google Shape;446;p39"/>
          <p:cNvSpPr txBox="1"/>
          <p:nvPr/>
        </p:nvSpPr>
        <p:spPr>
          <a:xfrm>
            <a:off x="562371" y="4766310"/>
            <a:ext cx="7818328" cy="17830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800" u="none" cap="none" strike="noStrike">
                <a:solidFill>
                  <a:srgbClr val="14263F"/>
                </a:solidFill>
                <a:latin typeface="Arial"/>
                <a:ea typeface="Arial"/>
                <a:cs typeface="Arial"/>
                <a:sym typeface="Arial"/>
              </a:rPr>
              <a:t>Takeaway: The ensemble produced the best final test error, but the gain over Final CatBoost was small.</a:t>
            </a:r>
            <a:endParaRPr sz="1100"/>
          </a:p>
        </p:txBody>
      </p:sp>
      <p:sp>
        <p:nvSpPr>
          <p:cNvPr id="447" name="Google Shape;447;p39"/>
          <p:cNvSpPr txBox="1"/>
          <p:nvPr/>
        </p:nvSpPr>
        <p:spPr>
          <a:xfrm>
            <a:off x="445782" y="4924044"/>
            <a:ext cx="5829455" cy="12344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600" u="none" cap="none" strike="noStrike">
                <a:solidFill>
                  <a:srgbClr val="64748B"/>
                </a:solidFill>
                <a:latin typeface="Arial"/>
                <a:ea typeface="Arial"/>
                <a:cs typeface="Arial"/>
                <a:sym typeface="Arial"/>
              </a:rPr>
              <a:t>Rola Elabd  |  Weather Trend Forecasting</a:t>
            </a:r>
            <a:endParaRPr sz="1100"/>
          </a:p>
        </p:txBody>
      </p:sp>
      <p:sp>
        <p:nvSpPr>
          <p:cNvPr id="448" name="Google Shape;448;p39"/>
          <p:cNvSpPr txBox="1"/>
          <p:nvPr/>
        </p:nvSpPr>
        <p:spPr>
          <a:xfrm>
            <a:off x="8298401" y="4924044"/>
            <a:ext cx="377200" cy="123444"/>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 sz="600" u="none" cap="none" strike="noStrike">
                <a:solidFill>
                  <a:srgbClr val="64748B"/>
                </a:solidFill>
                <a:latin typeface="Arial"/>
                <a:ea typeface="Arial"/>
                <a:cs typeface="Arial"/>
                <a:sym typeface="Arial"/>
              </a:rPr>
              <a:t>13</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52" name="Shape 452"/>
        <p:cNvGrpSpPr/>
        <p:nvPr/>
      </p:nvGrpSpPr>
      <p:grpSpPr>
        <a:xfrm>
          <a:off x="0" y="0"/>
          <a:ext cx="0" cy="0"/>
          <a:chOff x="0" y="0"/>
          <a:chExt cx="0" cy="0"/>
        </a:xfrm>
      </p:grpSpPr>
      <p:sp>
        <p:nvSpPr>
          <p:cNvPr id="453" name="Google Shape;453;p40"/>
          <p:cNvSpPr txBox="1"/>
          <p:nvPr/>
        </p:nvSpPr>
        <p:spPr>
          <a:xfrm>
            <a:off x="480073" y="288036"/>
            <a:ext cx="802407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4263F"/>
                </a:solidFill>
                <a:latin typeface="Arial"/>
                <a:ea typeface="Arial"/>
                <a:cs typeface="Arial"/>
                <a:sym typeface="Arial"/>
              </a:rPr>
              <a:t>Error Analysis: Overall Fit</a:t>
            </a:r>
            <a:endParaRPr sz="1100"/>
          </a:p>
        </p:txBody>
      </p:sp>
      <p:sp>
        <p:nvSpPr>
          <p:cNvPr id="454" name="Google Shape;454;p40"/>
          <p:cNvSpPr/>
          <p:nvPr/>
        </p:nvSpPr>
        <p:spPr>
          <a:xfrm>
            <a:off x="480073" y="768096"/>
            <a:ext cx="8195528" cy="493776"/>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5" name="Google Shape;455;p40"/>
          <p:cNvSpPr txBox="1"/>
          <p:nvPr/>
        </p:nvSpPr>
        <p:spPr>
          <a:xfrm>
            <a:off x="651527" y="891540"/>
            <a:ext cx="7852619" cy="21945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1100" u="none" cap="none" strike="noStrike">
                <a:solidFill>
                  <a:srgbClr val="14263F"/>
                </a:solidFill>
                <a:latin typeface="Arial"/>
                <a:ea typeface="Arial"/>
                <a:cs typeface="Arial"/>
                <a:sym typeface="Arial"/>
              </a:rPr>
              <a:t>Question: How closely do the final ensemble predictions follow the actual temperatures?</a:t>
            </a:r>
            <a:endParaRPr sz="1100"/>
          </a:p>
        </p:txBody>
      </p:sp>
      <p:pic>
        <p:nvPicPr>
          <p:cNvPr descr="image.png" id="456" name="Google Shape;456;p40"/>
          <p:cNvPicPr preferRelativeResize="0"/>
          <p:nvPr/>
        </p:nvPicPr>
        <p:blipFill rotWithShape="1">
          <a:blip r:embed="rId3">
            <a:alphaModFix/>
          </a:blip>
          <a:srcRect b="0" l="0" r="0" t="0"/>
          <a:stretch/>
        </p:blipFill>
        <p:spPr>
          <a:xfrm>
            <a:off x="493789" y="1392173"/>
            <a:ext cx="4869310" cy="3374136"/>
          </a:xfrm>
          <a:prstGeom prst="rect">
            <a:avLst/>
          </a:prstGeom>
          <a:noFill/>
          <a:ln>
            <a:noFill/>
          </a:ln>
        </p:spPr>
      </p:pic>
      <p:sp>
        <p:nvSpPr>
          <p:cNvPr id="457" name="Google Shape;457;p40"/>
          <p:cNvSpPr txBox="1"/>
          <p:nvPr/>
        </p:nvSpPr>
        <p:spPr>
          <a:xfrm>
            <a:off x="5623709" y="1453896"/>
            <a:ext cx="2674691"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4263F"/>
                </a:solidFill>
                <a:latin typeface="Arial"/>
                <a:ea typeface="Arial"/>
                <a:cs typeface="Arial"/>
                <a:sym typeface="Arial"/>
              </a:rPr>
              <a:t>What the test set shows</a:t>
            </a:r>
            <a:endParaRPr sz="1100"/>
          </a:p>
        </p:txBody>
      </p:sp>
      <p:sp>
        <p:nvSpPr>
          <p:cNvPr id="458" name="Google Shape;458;p40"/>
          <p:cNvSpPr/>
          <p:nvPr/>
        </p:nvSpPr>
        <p:spPr>
          <a:xfrm>
            <a:off x="5623709" y="1796796"/>
            <a:ext cx="2571819" cy="493776"/>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9" name="Google Shape;459;p40"/>
          <p:cNvSpPr txBox="1"/>
          <p:nvPr/>
        </p:nvSpPr>
        <p:spPr>
          <a:xfrm>
            <a:off x="5774590" y="1885950"/>
            <a:ext cx="1268764" cy="1371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700" u="none" cap="none" strike="noStrike">
                <a:solidFill>
                  <a:srgbClr val="64748B"/>
                </a:solidFill>
                <a:latin typeface="Arial"/>
                <a:ea typeface="Arial"/>
                <a:cs typeface="Arial"/>
                <a:sym typeface="Arial"/>
              </a:rPr>
              <a:t>Test R²</a:t>
            </a:r>
            <a:endParaRPr sz="1100"/>
          </a:p>
        </p:txBody>
      </p:sp>
      <p:sp>
        <p:nvSpPr>
          <p:cNvPr id="460" name="Google Shape;460;p40"/>
          <p:cNvSpPr txBox="1"/>
          <p:nvPr/>
        </p:nvSpPr>
        <p:spPr>
          <a:xfrm>
            <a:off x="6892474" y="1851660"/>
            <a:ext cx="1063018" cy="20574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1" i="0" lang="en" sz="1300" u="none" cap="none" strike="noStrike">
                <a:solidFill>
                  <a:srgbClr val="2D67B5"/>
                </a:solidFill>
                <a:latin typeface="Arial"/>
                <a:ea typeface="Arial"/>
                <a:cs typeface="Arial"/>
                <a:sym typeface="Arial"/>
              </a:rPr>
              <a:t>0.9229</a:t>
            </a:r>
            <a:endParaRPr sz="1100"/>
          </a:p>
        </p:txBody>
      </p:sp>
      <p:sp>
        <p:nvSpPr>
          <p:cNvPr id="461" name="Google Shape;461;p40"/>
          <p:cNvSpPr/>
          <p:nvPr/>
        </p:nvSpPr>
        <p:spPr>
          <a:xfrm>
            <a:off x="5623709" y="2427732"/>
            <a:ext cx="2571819" cy="493776"/>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62" name="Google Shape;462;p40"/>
          <p:cNvSpPr txBox="1"/>
          <p:nvPr/>
        </p:nvSpPr>
        <p:spPr>
          <a:xfrm>
            <a:off x="5774590" y="2516886"/>
            <a:ext cx="1268764" cy="1371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700" u="none" cap="none" strike="noStrike">
                <a:solidFill>
                  <a:srgbClr val="64748B"/>
                </a:solidFill>
                <a:latin typeface="Arial"/>
                <a:ea typeface="Arial"/>
                <a:cs typeface="Arial"/>
                <a:sym typeface="Arial"/>
              </a:rPr>
              <a:t>Mean residual</a:t>
            </a:r>
            <a:endParaRPr sz="1100"/>
          </a:p>
        </p:txBody>
      </p:sp>
      <p:sp>
        <p:nvSpPr>
          <p:cNvPr id="463" name="Google Shape;463;p40"/>
          <p:cNvSpPr txBox="1"/>
          <p:nvPr/>
        </p:nvSpPr>
        <p:spPr>
          <a:xfrm>
            <a:off x="6892474" y="2482596"/>
            <a:ext cx="1063018" cy="20574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1" i="0" lang="en" sz="1300" u="none" cap="none" strike="noStrike">
                <a:solidFill>
                  <a:srgbClr val="238589"/>
                </a:solidFill>
                <a:latin typeface="Arial"/>
                <a:ea typeface="Arial"/>
                <a:cs typeface="Arial"/>
                <a:sym typeface="Arial"/>
              </a:rPr>
              <a:t>−0.13°C</a:t>
            </a:r>
            <a:endParaRPr sz="1100"/>
          </a:p>
        </p:txBody>
      </p:sp>
      <p:sp>
        <p:nvSpPr>
          <p:cNvPr id="464" name="Google Shape;464;p40"/>
          <p:cNvSpPr/>
          <p:nvPr/>
        </p:nvSpPr>
        <p:spPr>
          <a:xfrm>
            <a:off x="5623709" y="3058668"/>
            <a:ext cx="2571819" cy="493776"/>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65" name="Google Shape;465;p40"/>
          <p:cNvSpPr txBox="1"/>
          <p:nvPr/>
        </p:nvSpPr>
        <p:spPr>
          <a:xfrm>
            <a:off x="5774590" y="3147822"/>
            <a:ext cx="1268764" cy="1371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700" u="none" cap="none" strike="noStrike">
                <a:solidFill>
                  <a:srgbClr val="64748B"/>
                </a:solidFill>
                <a:latin typeface="Arial"/>
                <a:ea typeface="Arial"/>
                <a:cs typeface="Arial"/>
                <a:sym typeface="Arial"/>
              </a:rPr>
              <a:t>Median residual</a:t>
            </a:r>
            <a:endParaRPr sz="1100"/>
          </a:p>
        </p:txBody>
      </p:sp>
      <p:sp>
        <p:nvSpPr>
          <p:cNvPr id="466" name="Google Shape;466;p40"/>
          <p:cNvSpPr txBox="1"/>
          <p:nvPr/>
        </p:nvSpPr>
        <p:spPr>
          <a:xfrm>
            <a:off x="6892474" y="3113532"/>
            <a:ext cx="1063018" cy="20574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1" i="0" lang="en" sz="1300" u="none" cap="none" strike="noStrike">
                <a:solidFill>
                  <a:srgbClr val="238589"/>
                </a:solidFill>
                <a:latin typeface="Arial"/>
                <a:ea typeface="Arial"/>
                <a:cs typeface="Arial"/>
                <a:sym typeface="Arial"/>
              </a:rPr>
              <a:t>−0.04°C</a:t>
            </a:r>
            <a:endParaRPr sz="1100"/>
          </a:p>
        </p:txBody>
      </p:sp>
      <p:sp>
        <p:nvSpPr>
          <p:cNvPr id="467" name="Google Shape;467;p40"/>
          <p:cNvSpPr txBox="1"/>
          <p:nvPr/>
        </p:nvSpPr>
        <p:spPr>
          <a:xfrm>
            <a:off x="5623709" y="3785616"/>
            <a:ext cx="2400364"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u="none" cap="none" strike="noStrike">
                <a:solidFill>
                  <a:srgbClr val="14263F"/>
                </a:solidFill>
                <a:latin typeface="Arial"/>
                <a:ea typeface="Arial"/>
                <a:cs typeface="Arial"/>
                <a:sym typeface="Arial"/>
              </a:rPr>
              <a:t>Interpretation</a:t>
            </a:r>
            <a:endParaRPr sz="1100"/>
          </a:p>
        </p:txBody>
      </p:sp>
      <p:sp>
        <p:nvSpPr>
          <p:cNvPr id="468" name="Google Shape;468;p40"/>
          <p:cNvSpPr txBox="1"/>
          <p:nvPr/>
        </p:nvSpPr>
        <p:spPr>
          <a:xfrm>
            <a:off x="5623709" y="4073652"/>
            <a:ext cx="2640400" cy="63093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Predictions track the diagonal closely, so the model captures most of the overall temperature variation. Residuals are centered near zero, indicating little overall systematic bias. The spread is wider at the lower and higher ends of the temperature range.</a:t>
            </a:r>
            <a:endParaRPr sz="1100"/>
          </a:p>
        </p:txBody>
      </p:sp>
      <p:sp>
        <p:nvSpPr>
          <p:cNvPr id="469" name="Google Shape;469;p40"/>
          <p:cNvSpPr txBox="1"/>
          <p:nvPr/>
        </p:nvSpPr>
        <p:spPr>
          <a:xfrm>
            <a:off x="445782" y="4924044"/>
            <a:ext cx="5829455" cy="12344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600" u="none" cap="none" strike="noStrike">
                <a:solidFill>
                  <a:srgbClr val="64748B"/>
                </a:solidFill>
                <a:latin typeface="Arial"/>
                <a:ea typeface="Arial"/>
                <a:cs typeface="Arial"/>
                <a:sym typeface="Arial"/>
              </a:rPr>
              <a:t>Rola Elabd  |  Weather Trend Forecasting</a:t>
            </a:r>
            <a:endParaRPr sz="1100"/>
          </a:p>
        </p:txBody>
      </p:sp>
      <p:sp>
        <p:nvSpPr>
          <p:cNvPr id="470" name="Google Shape;470;p40"/>
          <p:cNvSpPr txBox="1"/>
          <p:nvPr/>
        </p:nvSpPr>
        <p:spPr>
          <a:xfrm>
            <a:off x="8298401" y="4924044"/>
            <a:ext cx="377200" cy="123444"/>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 sz="600" u="none" cap="none" strike="noStrike">
                <a:solidFill>
                  <a:srgbClr val="64748B"/>
                </a:solidFill>
                <a:latin typeface="Arial"/>
                <a:ea typeface="Arial"/>
                <a:cs typeface="Arial"/>
                <a:sym typeface="Arial"/>
              </a:rPr>
              <a:t>14</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74" name="Shape 474"/>
        <p:cNvGrpSpPr/>
        <p:nvPr/>
      </p:nvGrpSpPr>
      <p:grpSpPr>
        <a:xfrm>
          <a:off x="0" y="0"/>
          <a:ext cx="0" cy="0"/>
          <a:chOff x="0" y="0"/>
          <a:chExt cx="0" cy="0"/>
        </a:xfrm>
      </p:grpSpPr>
      <p:sp>
        <p:nvSpPr>
          <p:cNvPr id="475" name="Google Shape;475;p41"/>
          <p:cNvSpPr txBox="1"/>
          <p:nvPr/>
        </p:nvSpPr>
        <p:spPr>
          <a:xfrm>
            <a:off x="480073" y="288036"/>
            <a:ext cx="802407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4263F"/>
                </a:solidFill>
                <a:latin typeface="Arial"/>
                <a:ea typeface="Arial"/>
                <a:cs typeface="Arial"/>
                <a:sym typeface="Arial"/>
              </a:rPr>
              <a:t>Error Analysis: Where the Model Struggles</a:t>
            </a:r>
            <a:endParaRPr sz="1100"/>
          </a:p>
        </p:txBody>
      </p:sp>
      <p:sp>
        <p:nvSpPr>
          <p:cNvPr id="476" name="Google Shape;476;p41"/>
          <p:cNvSpPr/>
          <p:nvPr/>
        </p:nvSpPr>
        <p:spPr>
          <a:xfrm>
            <a:off x="480073" y="768096"/>
            <a:ext cx="8195528" cy="493776"/>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77" name="Google Shape;477;p41"/>
          <p:cNvSpPr txBox="1"/>
          <p:nvPr/>
        </p:nvSpPr>
        <p:spPr>
          <a:xfrm>
            <a:off x="651527" y="891540"/>
            <a:ext cx="7852619" cy="21945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i="0" lang="en" sz="1100" u="none" cap="none" strike="noStrike">
                <a:solidFill>
                  <a:srgbClr val="14263F"/>
                </a:solidFill>
                <a:latin typeface="Arial"/>
                <a:ea typeface="Arial"/>
                <a:cs typeface="Arial"/>
                <a:sym typeface="Arial"/>
              </a:rPr>
              <a:t>Question: Which conditions lead to the largest next-day forecast errors?</a:t>
            </a:r>
            <a:endParaRPr sz="1100"/>
          </a:p>
        </p:txBody>
      </p:sp>
      <p:pic>
        <p:nvPicPr>
          <p:cNvPr id="478" name="Google Shape;478;p41"/>
          <p:cNvPicPr preferRelativeResize="0"/>
          <p:nvPr/>
        </p:nvPicPr>
        <p:blipFill rotWithShape="1">
          <a:blip r:embed="rId3">
            <a:alphaModFix/>
          </a:blip>
          <a:srcRect b="0" l="0" r="0" t="0"/>
          <a:stretch/>
        </p:blipFill>
        <p:spPr>
          <a:xfrm>
            <a:off x="480073" y="1405889"/>
            <a:ext cx="3874873" cy="2125980"/>
          </a:xfrm>
          <a:prstGeom prst="rect">
            <a:avLst/>
          </a:prstGeom>
          <a:noFill/>
          <a:ln>
            <a:noFill/>
          </a:ln>
        </p:spPr>
      </p:pic>
      <p:sp>
        <p:nvSpPr>
          <p:cNvPr id="479" name="Google Shape;479;p41"/>
          <p:cNvSpPr txBox="1"/>
          <p:nvPr/>
        </p:nvSpPr>
        <p:spPr>
          <a:xfrm>
            <a:off x="4608699" y="1440180"/>
            <a:ext cx="3566255" cy="23317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u="none" cap="none" strike="noStrike">
                <a:solidFill>
                  <a:srgbClr val="14263F"/>
                </a:solidFill>
                <a:latin typeface="Arial"/>
                <a:ea typeface="Arial"/>
                <a:cs typeface="Arial"/>
                <a:sym typeface="Arial"/>
              </a:rPr>
              <a:t>Direction of temperature change</a:t>
            </a:r>
            <a:endParaRPr sz="1100"/>
          </a:p>
        </p:txBody>
      </p:sp>
      <p:graphicFrame>
        <p:nvGraphicFramePr>
          <p:cNvPr id="480" name="Google Shape;480;p41"/>
          <p:cNvGraphicFramePr/>
          <p:nvPr/>
        </p:nvGraphicFramePr>
        <p:xfrm>
          <a:off x="4608699" y="1748790"/>
          <a:ext cx="3000000" cy="3000000"/>
        </p:xfrm>
        <a:graphic>
          <a:graphicData uri="http://schemas.openxmlformats.org/drawingml/2006/table">
            <a:tbl>
              <a:tblPr bandRow="1" firstRow="1">
                <a:noFill/>
                <a:tableStyleId>{7694A9BA-3C51-4E7D-A3CC-E2B2F129DDB0}</a:tableStyleId>
              </a:tblPr>
              <a:tblGrid>
                <a:gridCol w="968725"/>
                <a:gridCol w="968725"/>
                <a:gridCol w="968725"/>
                <a:gridCol w="968725"/>
              </a:tblGrid>
              <a:tr h="373750">
                <a:tc>
                  <a:txBody>
                    <a:bodyPr/>
                    <a:lstStyle/>
                    <a:p>
                      <a:pPr indent="0" lvl="0" marL="0" marR="0" rtl="0" algn="ctr">
                        <a:spcBef>
                          <a:spcPts val="0"/>
                        </a:spcBef>
                        <a:spcAft>
                          <a:spcPts val="0"/>
                        </a:spcAft>
                        <a:buNone/>
                      </a:pPr>
                      <a:r>
                        <a:rPr b="1" lang="en" sz="700" u="none" cap="none" strike="noStrike">
                          <a:solidFill>
                            <a:srgbClr val="FFFFFF"/>
                          </a:solidFill>
                          <a:latin typeface="Arial"/>
                          <a:ea typeface="Arial"/>
                          <a:cs typeface="Arial"/>
                          <a:sym typeface="Arial"/>
                        </a:rPr>
                        <a:t>Direction</a:t>
                      </a:r>
                      <a:endParaRPr sz="1100"/>
                    </a:p>
                  </a:txBody>
                  <a:tcPr marT="34300" marB="34300" marR="68600" marL="68600">
                    <a:solidFill>
                      <a:srgbClr val="14263F"/>
                    </a:solidFill>
                  </a:tcPr>
                </a:tc>
                <a:tc>
                  <a:txBody>
                    <a:bodyPr/>
                    <a:lstStyle/>
                    <a:p>
                      <a:pPr indent="0" lvl="0" marL="0" marR="0" rtl="0" algn="ctr">
                        <a:spcBef>
                          <a:spcPts val="0"/>
                        </a:spcBef>
                        <a:spcAft>
                          <a:spcPts val="0"/>
                        </a:spcAft>
                        <a:buNone/>
                      </a:pPr>
                      <a:r>
                        <a:rPr b="1" lang="en" sz="700" u="none" cap="none" strike="noStrike">
                          <a:solidFill>
                            <a:srgbClr val="FFFFFF"/>
                          </a:solidFill>
                          <a:latin typeface="Arial"/>
                          <a:ea typeface="Arial"/>
                          <a:cs typeface="Arial"/>
                          <a:sym typeface="Arial"/>
                        </a:rPr>
                        <a:t>Obs.</a:t>
                      </a:r>
                      <a:endParaRPr sz="1100"/>
                    </a:p>
                  </a:txBody>
                  <a:tcPr marT="34300" marB="34300" marR="68600" marL="68600">
                    <a:solidFill>
                      <a:srgbClr val="14263F"/>
                    </a:solidFill>
                  </a:tcPr>
                </a:tc>
                <a:tc>
                  <a:txBody>
                    <a:bodyPr/>
                    <a:lstStyle/>
                    <a:p>
                      <a:pPr indent="0" lvl="0" marL="0" marR="0" rtl="0" algn="ctr">
                        <a:spcBef>
                          <a:spcPts val="0"/>
                        </a:spcBef>
                        <a:spcAft>
                          <a:spcPts val="0"/>
                        </a:spcAft>
                        <a:buNone/>
                      </a:pPr>
                      <a:r>
                        <a:rPr b="1" lang="en" sz="700" u="none" cap="none" strike="noStrike">
                          <a:solidFill>
                            <a:srgbClr val="FFFFFF"/>
                          </a:solidFill>
                          <a:latin typeface="Arial"/>
                          <a:ea typeface="Arial"/>
                          <a:cs typeface="Arial"/>
                          <a:sym typeface="Arial"/>
                        </a:rPr>
                        <a:t>MAE</a:t>
                      </a:r>
                      <a:endParaRPr sz="1100"/>
                    </a:p>
                  </a:txBody>
                  <a:tcPr marT="34300" marB="34300" marR="68600" marL="68600">
                    <a:solidFill>
                      <a:srgbClr val="14263F"/>
                    </a:solidFill>
                  </a:tcPr>
                </a:tc>
                <a:tc>
                  <a:txBody>
                    <a:bodyPr/>
                    <a:lstStyle/>
                    <a:p>
                      <a:pPr indent="0" lvl="0" marL="0" marR="0" rtl="0" algn="ctr">
                        <a:spcBef>
                          <a:spcPts val="0"/>
                        </a:spcBef>
                        <a:spcAft>
                          <a:spcPts val="0"/>
                        </a:spcAft>
                        <a:buNone/>
                      </a:pPr>
                      <a:r>
                        <a:rPr b="1" lang="en" sz="700" u="none" cap="none" strike="noStrike">
                          <a:solidFill>
                            <a:srgbClr val="FFFFFF"/>
                          </a:solidFill>
                          <a:latin typeface="Arial"/>
                          <a:ea typeface="Arial"/>
                          <a:cs typeface="Arial"/>
                          <a:sym typeface="Arial"/>
                        </a:rPr>
                        <a:t>Mean residual</a:t>
                      </a:r>
                      <a:endParaRPr sz="1100"/>
                    </a:p>
                  </a:txBody>
                  <a:tcPr marT="34300" marB="34300" marR="68600" marL="68600">
                    <a:solidFill>
                      <a:srgbClr val="14263F"/>
                    </a:solidFill>
                  </a:tcPr>
                </a:tc>
              </a:tr>
              <a:tr h="373750">
                <a:tc>
                  <a:txBody>
                    <a:bodyPr/>
                    <a:lstStyle/>
                    <a:p>
                      <a:pPr indent="0" lvl="0" marL="0" marR="0" rtl="0" algn="l">
                        <a:spcBef>
                          <a:spcPts val="0"/>
                        </a:spcBef>
                        <a:spcAft>
                          <a:spcPts val="0"/>
                        </a:spcAft>
                        <a:buNone/>
                      </a:pPr>
                      <a:r>
                        <a:rPr b="0" lang="en" sz="700" u="none" cap="none" strike="noStrike">
                          <a:solidFill>
                            <a:srgbClr val="2D3748"/>
                          </a:solidFill>
                          <a:latin typeface="Arial"/>
                          <a:ea typeface="Arial"/>
                          <a:cs typeface="Arial"/>
                          <a:sym typeface="Arial"/>
                        </a:rPr>
                        <a:t>Cooling</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11,642</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1.53</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−1.41°C</a:t>
                      </a:r>
                      <a:endParaRPr sz="1100"/>
                    </a:p>
                  </a:txBody>
                  <a:tcPr marT="34300" marB="34300" marR="68600" marL="68600">
                    <a:solidFill>
                      <a:srgbClr val="FFFFFF"/>
                    </a:solidFill>
                  </a:tcPr>
                </a:tc>
              </a:tr>
              <a:tr h="373750">
                <a:tc>
                  <a:txBody>
                    <a:bodyPr/>
                    <a:lstStyle/>
                    <a:p>
                      <a:pPr indent="0" lvl="0" marL="0" marR="0" rtl="0" algn="l">
                        <a:spcBef>
                          <a:spcPts val="0"/>
                        </a:spcBef>
                        <a:spcAft>
                          <a:spcPts val="0"/>
                        </a:spcAft>
                        <a:buNone/>
                      </a:pPr>
                      <a:r>
                        <a:rPr b="0" lang="en" sz="700" u="none" cap="none" strike="noStrike">
                          <a:solidFill>
                            <a:srgbClr val="2D3748"/>
                          </a:solidFill>
                          <a:latin typeface="Arial"/>
                          <a:ea typeface="Arial"/>
                          <a:cs typeface="Arial"/>
                          <a:sym typeface="Arial"/>
                        </a:rPr>
                        <a:t>Little/no change</a:t>
                      </a:r>
                      <a:endParaRPr sz="1100"/>
                    </a:p>
                  </a:txBody>
                  <a:tcPr marT="34300" marB="34300" marR="68600" marL="68600">
                    <a:solidFill>
                      <a:srgbClr val="E2F4F3"/>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1,165</a:t>
                      </a:r>
                      <a:endParaRPr sz="1100"/>
                    </a:p>
                  </a:txBody>
                  <a:tcPr marT="34300" marB="34300" marR="68600" marL="68600">
                    <a:solidFill>
                      <a:srgbClr val="E2F4F3"/>
                    </a:solidFill>
                  </a:tcPr>
                </a:tc>
                <a:tc>
                  <a:txBody>
                    <a:bodyPr/>
                    <a:lstStyle/>
                    <a:p>
                      <a:pPr indent="0" lvl="0" marL="0" marR="0" rtl="0" algn="ctr">
                        <a:spcBef>
                          <a:spcPts val="0"/>
                        </a:spcBef>
                        <a:spcAft>
                          <a:spcPts val="0"/>
                        </a:spcAft>
                        <a:buNone/>
                      </a:pPr>
                      <a:r>
                        <a:rPr b="1" lang="en" sz="700" u="none" cap="none" strike="noStrike">
                          <a:solidFill>
                            <a:srgbClr val="2D3748"/>
                          </a:solidFill>
                          <a:latin typeface="Arial"/>
                          <a:ea typeface="Arial"/>
                          <a:cs typeface="Arial"/>
                          <a:sym typeface="Arial"/>
                        </a:rPr>
                        <a:t>0.49</a:t>
                      </a:r>
                      <a:endParaRPr sz="1100"/>
                    </a:p>
                  </a:txBody>
                  <a:tcPr marT="34300" marB="34300" marR="68600" marL="68600">
                    <a:solidFill>
                      <a:srgbClr val="E2F4F3"/>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−0.06°C</a:t>
                      </a:r>
                      <a:endParaRPr sz="1100"/>
                    </a:p>
                  </a:txBody>
                  <a:tcPr marT="34300" marB="34300" marR="68600" marL="68600">
                    <a:solidFill>
                      <a:srgbClr val="E2F4F3"/>
                    </a:solidFill>
                  </a:tcPr>
                </a:tc>
              </a:tr>
              <a:tr h="373750">
                <a:tc>
                  <a:txBody>
                    <a:bodyPr/>
                    <a:lstStyle/>
                    <a:p>
                      <a:pPr indent="0" lvl="0" marL="0" marR="0" rtl="0" algn="l">
                        <a:spcBef>
                          <a:spcPts val="0"/>
                        </a:spcBef>
                        <a:spcAft>
                          <a:spcPts val="0"/>
                        </a:spcAft>
                        <a:buNone/>
                      </a:pPr>
                      <a:r>
                        <a:rPr b="0" lang="en" sz="700" u="none" cap="none" strike="noStrike">
                          <a:solidFill>
                            <a:srgbClr val="2D3748"/>
                          </a:solidFill>
                          <a:latin typeface="Arial"/>
                          <a:ea typeface="Arial"/>
                          <a:cs typeface="Arial"/>
                          <a:sym typeface="Arial"/>
                        </a:rPr>
                        <a:t>Warming</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12,193</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1.26</a:t>
                      </a:r>
                      <a:endParaRPr sz="1100"/>
                    </a:p>
                  </a:txBody>
                  <a:tcPr marT="34300" marB="34300" marR="68600" marL="68600">
                    <a:solidFill>
                      <a:srgbClr val="FFFFFF"/>
                    </a:solidFill>
                  </a:tcPr>
                </a:tc>
                <a:tc>
                  <a:txBody>
                    <a:bodyPr/>
                    <a:lstStyle/>
                    <a:p>
                      <a:pPr indent="0" lvl="0" marL="0" marR="0" rtl="0" algn="ctr">
                        <a:spcBef>
                          <a:spcPts val="0"/>
                        </a:spcBef>
                        <a:spcAft>
                          <a:spcPts val="0"/>
                        </a:spcAft>
                        <a:buNone/>
                      </a:pPr>
                      <a:r>
                        <a:rPr b="0" lang="en" sz="700" u="none" cap="none" strike="noStrike">
                          <a:solidFill>
                            <a:srgbClr val="2D3748"/>
                          </a:solidFill>
                          <a:latin typeface="Arial"/>
                          <a:ea typeface="Arial"/>
                          <a:cs typeface="Arial"/>
                          <a:sym typeface="Arial"/>
                        </a:rPr>
                        <a:t>+1.08°C</a:t>
                      </a:r>
                      <a:endParaRPr sz="1100"/>
                    </a:p>
                  </a:txBody>
                  <a:tcPr marT="34300" marB="34300" marR="68600" marL="68600">
                    <a:solidFill>
                      <a:srgbClr val="FFFFFF"/>
                    </a:solidFill>
                  </a:tcPr>
                </a:tc>
              </a:tr>
            </a:tbl>
          </a:graphicData>
        </a:graphic>
      </p:graphicFrame>
      <p:sp>
        <p:nvSpPr>
          <p:cNvPr id="481" name="Google Shape;481;p41"/>
          <p:cNvSpPr/>
          <p:nvPr/>
        </p:nvSpPr>
        <p:spPr>
          <a:xfrm>
            <a:off x="4608699" y="3415284"/>
            <a:ext cx="3874873" cy="768096"/>
          </a:xfrm>
          <a:prstGeom prst="roundRect">
            <a:avLst>
              <a:gd fmla="val 16667" name="adj"/>
            </a:avLst>
          </a:prstGeom>
          <a:solidFill>
            <a:srgbClr val="E8F2F9"/>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82" name="Google Shape;482;p41"/>
          <p:cNvSpPr txBox="1"/>
          <p:nvPr/>
        </p:nvSpPr>
        <p:spPr>
          <a:xfrm>
            <a:off x="4787012" y="3525012"/>
            <a:ext cx="1988873" cy="17830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00" u="none" cap="none" strike="noStrike">
                <a:solidFill>
                  <a:srgbClr val="14263F"/>
                </a:solidFill>
                <a:latin typeface="Arial"/>
                <a:ea typeface="Arial"/>
                <a:cs typeface="Arial"/>
                <a:sym typeface="Arial"/>
              </a:rPr>
              <a:t>Effect of missing recent history</a:t>
            </a:r>
            <a:endParaRPr sz="1100"/>
          </a:p>
        </p:txBody>
      </p:sp>
      <p:sp>
        <p:nvSpPr>
          <p:cNvPr id="483" name="Google Shape;483;p41"/>
          <p:cNvSpPr txBox="1"/>
          <p:nvPr/>
        </p:nvSpPr>
        <p:spPr>
          <a:xfrm>
            <a:off x="4800728" y="3806190"/>
            <a:ext cx="1097309" cy="1371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700" u="none" cap="none" strike="noStrike">
                <a:solidFill>
                  <a:srgbClr val="64748B"/>
                </a:solidFill>
                <a:latin typeface="Arial"/>
                <a:ea typeface="Arial"/>
                <a:cs typeface="Arial"/>
                <a:sym typeface="Arial"/>
              </a:rPr>
              <a:t>lag_1 available</a:t>
            </a:r>
            <a:endParaRPr sz="1100"/>
          </a:p>
        </p:txBody>
      </p:sp>
      <p:sp>
        <p:nvSpPr>
          <p:cNvPr id="484" name="Google Shape;484;p41"/>
          <p:cNvSpPr txBox="1"/>
          <p:nvPr/>
        </p:nvSpPr>
        <p:spPr>
          <a:xfrm>
            <a:off x="5795164" y="3758184"/>
            <a:ext cx="8916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238589"/>
                </a:solidFill>
                <a:latin typeface="Arial"/>
                <a:ea typeface="Arial"/>
                <a:cs typeface="Arial"/>
                <a:sym typeface="Arial"/>
              </a:rPr>
              <a:t>MAE 1.34</a:t>
            </a:r>
            <a:endParaRPr sz="1100"/>
          </a:p>
        </p:txBody>
      </p:sp>
      <p:sp>
        <p:nvSpPr>
          <p:cNvPr id="485" name="Google Shape;485;p41"/>
          <p:cNvSpPr txBox="1"/>
          <p:nvPr/>
        </p:nvSpPr>
        <p:spPr>
          <a:xfrm>
            <a:off x="6721019" y="3806190"/>
            <a:ext cx="960146" cy="1371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700" u="none" cap="none" strike="noStrike">
                <a:solidFill>
                  <a:srgbClr val="64748B"/>
                </a:solidFill>
                <a:latin typeface="Arial"/>
                <a:ea typeface="Arial"/>
                <a:cs typeface="Arial"/>
                <a:sym typeface="Arial"/>
              </a:rPr>
              <a:t>lag_1 missing</a:t>
            </a:r>
            <a:endParaRPr sz="1100"/>
          </a:p>
        </p:txBody>
      </p:sp>
      <p:sp>
        <p:nvSpPr>
          <p:cNvPr id="486" name="Google Shape;486;p41"/>
          <p:cNvSpPr txBox="1"/>
          <p:nvPr/>
        </p:nvSpPr>
        <p:spPr>
          <a:xfrm>
            <a:off x="7509710" y="3758184"/>
            <a:ext cx="7887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2D67B5"/>
                </a:solidFill>
                <a:latin typeface="Arial"/>
                <a:ea typeface="Arial"/>
                <a:cs typeface="Arial"/>
                <a:sym typeface="Arial"/>
              </a:rPr>
              <a:t>MAE 2.06</a:t>
            </a:r>
            <a:endParaRPr sz="1100"/>
          </a:p>
        </p:txBody>
      </p:sp>
      <p:sp>
        <p:nvSpPr>
          <p:cNvPr id="487" name="Google Shape;487;p41"/>
          <p:cNvSpPr/>
          <p:nvPr/>
        </p:nvSpPr>
        <p:spPr>
          <a:xfrm>
            <a:off x="480073" y="3758184"/>
            <a:ext cx="3874873" cy="891540"/>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88" name="Google Shape;488;p41"/>
          <p:cNvSpPr txBox="1"/>
          <p:nvPr/>
        </p:nvSpPr>
        <p:spPr>
          <a:xfrm>
            <a:off x="480077" y="3929626"/>
            <a:ext cx="10629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000" u="none" cap="none" strike="noStrike">
                <a:solidFill>
                  <a:srgbClr val="238589"/>
                </a:solidFill>
                <a:latin typeface="Arial"/>
                <a:ea typeface="Arial"/>
                <a:cs typeface="Arial"/>
                <a:sym typeface="Arial"/>
              </a:rPr>
              <a:t>Main limitation</a:t>
            </a:r>
            <a:endParaRPr sz="1100"/>
          </a:p>
        </p:txBody>
      </p:sp>
      <p:sp>
        <p:nvSpPr>
          <p:cNvPr id="489" name="Google Shape;489;p41"/>
          <p:cNvSpPr txBox="1"/>
          <p:nvPr/>
        </p:nvSpPr>
        <p:spPr>
          <a:xfrm>
            <a:off x="1474509" y="3867912"/>
            <a:ext cx="2660975" cy="60350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2D3748"/>
                </a:solidFill>
                <a:latin typeface="Arial"/>
                <a:ea typeface="Arial"/>
                <a:cs typeface="Arial"/>
                <a:sym typeface="Arial"/>
              </a:rPr>
              <a:t>The ensemble is strongest when temperature stays fairly stable. It tends to dampen larger changes: cooling is overpredicted, while warming is underpredicted. Missing recent temperature history also increases error.</a:t>
            </a:r>
            <a:endParaRPr sz="1100"/>
          </a:p>
        </p:txBody>
      </p:sp>
      <p:sp>
        <p:nvSpPr>
          <p:cNvPr id="490" name="Google Shape;490;p41"/>
          <p:cNvSpPr txBox="1"/>
          <p:nvPr/>
        </p:nvSpPr>
        <p:spPr>
          <a:xfrm>
            <a:off x="445782" y="4924044"/>
            <a:ext cx="5829455" cy="12344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600" u="none" cap="none" strike="noStrike">
                <a:solidFill>
                  <a:srgbClr val="64748B"/>
                </a:solidFill>
                <a:latin typeface="Arial"/>
                <a:ea typeface="Arial"/>
                <a:cs typeface="Arial"/>
                <a:sym typeface="Arial"/>
              </a:rPr>
              <a:t>Rola Elabd  |  Weather Trend Forecasting</a:t>
            </a:r>
            <a:endParaRPr sz="1100"/>
          </a:p>
        </p:txBody>
      </p:sp>
      <p:sp>
        <p:nvSpPr>
          <p:cNvPr id="491" name="Google Shape;491;p41"/>
          <p:cNvSpPr txBox="1"/>
          <p:nvPr/>
        </p:nvSpPr>
        <p:spPr>
          <a:xfrm>
            <a:off x="8298401" y="4924044"/>
            <a:ext cx="377200" cy="123444"/>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 sz="600" u="none" cap="none" strike="noStrike">
                <a:solidFill>
                  <a:srgbClr val="64748B"/>
                </a:solidFill>
                <a:latin typeface="Arial"/>
                <a:ea typeface="Arial"/>
                <a:cs typeface="Arial"/>
                <a:sym typeface="Arial"/>
              </a:rPr>
              <a:t>15</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95" name="Shape 495"/>
        <p:cNvGrpSpPr/>
        <p:nvPr/>
      </p:nvGrpSpPr>
      <p:grpSpPr>
        <a:xfrm>
          <a:off x="0" y="0"/>
          <a:ext cx="0" cy="0"/>
          <a:chOff x="0" y="0"/>
          <a:chExt cx="0" cy="0"/>
        </a:xfrm>
      </p:grpSpPr>
      <p:sp>
        <p:nvSpPr>
          <p:cNvPr id="496" name="Google Shape;496;p42"/>
          <p:cNvSpPr txBox="1"/>
          <p:nvPr/>
        </p:nvSpPr>
        <p:spPr>
          <a:xfrm>
            <a:off x="480073" y="288036"/>
            <a:ext cx="802407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4263F"/>
                </a:solidFill>
                <a:latin typeface="Arial"/>
                <a:ea typeface="Arial"/>
                <a:cs typeface="Arial"/>
                <a:sym typeface="Arial"/>
              </a:rPr>
              <a:t>Deployment Demo</a:t>
            </a:r>
            <a:endParaRPr sz="1100"/>
          </a:p>
        </p:txBody>
      </p:sp>
      <p:sp>
        <p:nvSpPr>
          <p:cNvPr id="497" name="Google Shape;497;p42"/>
          <p:cNvSpPr txBox="1"/>
          <p:nvPr/>
        </p:nvSpPr>
        <p:spPr>
          <a:xfrm>
            <a:off x="514364" y="706373"/>
            <a:ext cx="31548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4263F"/>
                </a:solidFill>
                <a:latin typeface="Arial"/>
                <a:ea typeface="Arial"/>
                <a:cs typeface="Arial"/>
                <a:sym typeface="Arial"/>
              </a:rPr>
              <a:t>Live prediction pipeline</a:t>
            </a:r>
            <a:endParaRPr sz="1100"/>
          </a:p>
        </p:txBody>
      </p:sp>
      <p:sp>
        <p:nvSpPr>
          <p:cNvPr id="498" name="Google Shape;498;p42"/>
          <p:cNvSpPr/>
          <p:nvPr/>
        </p:nvSpPr>
        <p:spPr>
          <a:xfrm>
            <a:off x="969349" y="1016925"/>
            <a:ext cx="1123800" cy="637800"/>
          </a:xfrm>
          <a:prstGeom prst="roundRect">
            <a:avLst>
              <a:gd fmla="val 16667" name="adj"/>
            </a:avLst>
          </a:prstGeom>
          <a:solidFill>
            <a:srgbClr val="FFFFFF"/>
          </a:solidFill>
          <a:ln cap="flat" cmpd="sng" w="14075">
            <a:solidFill>
              <a:srgbClr val="2D67B5"/>
            </a:solidFill>
            <a:prstDash val="solid"/>
            <a:round/>
            <a:headEnd len="sm" w="sm" type="none"/>
            <a:tailEnd len="sm" w="sm" type="none"/>
          </a:ln>
          <a:effectLst>
            <a:outerShdw blurRad="35433" rotWithShape="0" dir="5400000" dist="20374">
              <a:srgbClr val="000000">
                <a:alpha val="34902"/>
              </a:srgbClr>
            </a:outerShdw>
          </a:effectLst>
        </p:spPr>
        <p:txBody>
          <a:bodyPr anchorCtr="0" anchor="ctr" bIns="30350" lIns="60750" spcFirstLastPara="1" rIns="60750" wrap="square" tIns="30350">
            <a:noAutofit/>
          </a:bodyPr>
          <a:lstStyle/>
          <a:p>
            <a:pPr indent="0" lvl="0" marL="0" marR="0" rtl="0" algn="ctr">
              <a:spcBef>
                <a:spcPts val="0"/>
              </a:spcBef>
              <a:spcAft>
                <a:spcPts val="0"/>
              </a:spcAft>
              <a:buNone/>
            </a:pPr>
            <a:r>
              <a:t/>
            </a:r>
            <a:endParaRPr b="0" i="0" sz="1240" u="none" cap="none" strike="noStrike">
              <a:solidFill>
                <a:schemeClr val="dk1"/>
              </a:solidFill>
              <a:latin typeface="Calibri"/>
              <a:ea typeface="Calibri"/>
              <a:cs typeface="Calibri"/>
              <a:sym typeface="Calibri"/>
            </a:endParaRPr>
          </a:p>
        </p:txBody>
      </p:sp>
      <p:sp>
        <p:nvSpPr>
          <p:cNvPr id="499" name="Google Shape;499;p42"/>
          <p:cNvSpPr txBox="1"/>
          <p:nvPr/>
        </p:nvSpPr>
        <p:spPr>
          <a:xfrm>
            <a:off x="1030101" y="1138425"/>
            <a:ext cx="1002300" cy="170400"/>
          </a:xfrm>
          <a:prstGeom prst="rect">
            <a:avLst/>
          </a:prstGeom>
          <a:noFill/>
          <a:ln>
            <a:noFill/>
          </a:ln>
        </p:spPr>
        <p:txBody>
          <a:bodyPr anchorCtr="0" anchor="t" bIns="30350" lIns="60750" spcFirstLastPara="1" rIns="60750" wrap="square" tIns="30350">
            <a:spAutoFit/>
          </a:bodyPr>
          <a:lstStyle/>
          <a:p>
            <a:pPr indent="0" lvl="0" marL="0" marR="0" rtl="0" algn="ctr">
              <a:spcBef>
                <a:spcPts val="0"/>
              </a:spcBef>
              <a:spcAft>
                <a:spcPts val="0"/>
              </a:spcAft>
              <a:buNone/>
            </a:pPr>
            <a:r>
              <a:rPr b="1" i="0" lang="en" sz="709" u="none" cap="none" strike="noStrike">
                <a:solidFill>
                  <a:srgbClr val="14263F"/>
                </a:solidFill>
                <a:latin typeface="Arial"/>
                <a:ea typeface="Arial"/>
                <a:cs typeface="Arial"/>
                <a:sym typeface="Arial"/>
              </a:rPr>
              <a:t>Input</a:t>
            </a:r>
            <a:endParaRPr sz="974"/>
          </a:p>
        </p:txBody>
      </p:sp>
      <p:sp>
        <p:nvSpPr>
          <p:cNvPr id="500" name="Google Shape;500;p42"/>
          <p:cNvSpPr txBox="1"/>
          <p:nvPr/>
        </p:nvSpPr>
        <p:spPr>
          <a:xfrm>
            <a:off x="1030101" y="1296377"/>
            <a:ext cx="1002300" cy="143100"/>
          </a:xfrm>
          <a:prstGeom prst="rect">
            <a:avLst/>
          </a:prstGeom>
          <a:noFill/>
          <a:ln>
            <a:noFill/>
          </a:ln>
        </p:spPr>
        <p:txBody>
          <a:bodyPr anchorCtr="0" anchor="t" bIns="30350" lIns="60750" spcFirstLastPara="1" rIns="60750" wrap="square" tIns="30350">
            <a:spAutoFit/>
          </a:bodyPr>
          <a:lstStyle/>
          <a:p>
            <a:pPr indent="0" lvl="0" marL="0" marR="0" rtl="0" algn="ctr">
              <a:spcBef>
                <a:spcPts val="0"/>
              </a:spcBef>
              <a:spcAft>
                <a:spcPts val="0"/>
              </a:spcAft>
              <a:buNone/>
            </a:pPr>
            <a:r>
              <a:rPr b="0" i="0" lang="en" sz="532" u="none" cap="none" strike="noStrike">
                <a:solidFill>
                  <a:srgbClr val="2D3748"/>
                </a:solidFill>
                <a:latin typeface="Arial"/>
                <a:ea typeface="Arial"/>
                <a:cs typeface="Arial"/>
                <a:sym typeface="Arial"/>
              </a:rPr>
              <a:t>city + country</a:t>
            </a:r>
            <a:endParaRPr sz="974"/>
          </a:p>
        </p:txBody>
      </p:sp>
      <p:sp>
        <p:nvSpPr>
          <p:cNvPr id="501" name="Google Shape;501;p42"/>
          <p:cNvSpPr/>
          <p:nvPr/>
        </p:nvSpPr>
        <p:spPr>
          <a:xfrm>
            <a:off x="2135788" y="1266001"/>
            <a:ext cx="231000" cy="145800"/>
          </a:xfrm>
          <a:prstGeom prst="rightArrow">
            <a:avLst>
              <a:gd fmla="val 50000" name="adj1"/>
              <a:gd fmla="val 50000" name="adj2"/>
            </a:avLst>
          </a:prstGeom>
          <a:solidFill>
            <a:srgbClr val="64748B"/>
          </a:solidFill>
          <a:ln>
            <a:noFill/>
          </a:ln>
          <a:effectLst>
            <a:outerShdw blurRad="35433" rotWithShape="0" dir="5400000" dist="20374">
              <a:srgbClr val="000000">
                <a:alpha val="34902"/>
              </a:srgbClr>
            </a:outerShdw>
          </a:effectLst>
        </p:spPr>
        <p:txBody>
          <a:bodyPr anchorCtr="0" anchor="ctr" bIns="30350" lIns="60750" spcFirstLastPara="1" rIns="60750" wrap="square" tIns="30350">
            <a:noAutofit/>
          </a:bodyPr>
          <a:lstStyle/>
          <a:p>
            <a:pPr indent="0" lvl="0" marL="0" marR="0" rtl="0" algn="ctr">
              <a:spcBef>
                <a:spcPts val="0"/>
              </a:spcBef>
              <a:spcAft>
                <a:spcPts val="0"/>
              </a:spcAft>
              <a:buNone/>
            </a:pPr>
            <a:r>
              <a:t/>
            </a:r>
            <a:endParaRPr b="0" i="0" sz="1240" u="none" cap="none" strike="noStrike">
              <a:solidFill>
                <a:schemeClr val="dk1"/>
              </a:solidFill>
              <a:latin typeface="Calibri"/>
              <a:ea typeface="Calibri"/>
              <a:cs typeface="Calibri"/>
              <a:sym typeface="Calibri"/>
            </a:endParaRPr>
          </a:p>
        </p:txBody>
      </p:sp>
      <p:sp>
        <p:nvSpPr>
          <p:cNvPr id="502" name="Google Shape;502;p42"/>
          <p:cNvSpPr/>
          <p:nvPr/>
        </p:nvSpPr>
        <p:spPr>
          <a:xfrm>
            <a:off x="2366646" y="1016925"/>
            <a:ext cx="1123800" cy="637800"/>
          </a:xfrm>
          <a:prstGeom prst="roundRect">
            <a:avLst>
              <a:gd fmla="val 16667" name="adj"/>
            </a:avLst>
          </a:prstGeom>
          <a:solidFill>
            <a:srgbClr val="E2F4F3"/>
          </a:solidFill>
          <a:ln cap="flat" cmpd="sng" w="14075">
            <a:solidFill>
              <a:srgbClr val="238589"/>
            </a:solidFill>
            <a:prstDash val="solid"/>
            <a:round/>
            <a:headEnd len="sm" w="sm" type="none"/>
            <a:tailEnd len="sm" w="sm" type="none"/>
          </a:ln>
          <a:effectLst>
            <a:outerShdw blurRad="35433" rotWithShape="0" dir="5400000" dist="20374">
              <a:srgbClr val="000000">
                <a:alpha val="34902"/>
              </a:srgbClr>
            </a:outerShdw>
          </a:effectLst>
        </p:spPr>
        <p:txBody>
          <a:bodyPr anchorCtr="0" anchor="ctr" bIns="30350" lIns="60750" spcFirstLastPara="1" rIns="60750" wrap="square" tIns="30350">
            <a:noAutofit/>
          </a:bodyPr>
          <a:lstStyle/>
          <a:p>
            <a:pPr indent="0" lvl="0" marL="0" marR="0" rtl="0" algn="ctr">
              <a:spcBef>
                <a:spcPts val="0"/>
              </a:spcBef>
              <a:spcAft>
                <a:spcPts val="0"/>
              </a:spcAft>
              <a:buNone/>
            </a:pPr>
            <a:r>
              <a:t/>
            </a:r>
            <a:endParaRPr b="0" i="0" sz="1240" u="none" cap="none" strike="noStrike">
              <a:solidFill>
                <a:schemeClr val="dk1"/>
              </a:solidFill>
              <a:latin typeface="Calibri"/>
              <a:ea typeface="Calibri"/>
              <a:cs typeface="Calibri"/>
              <a:sym typeface="Calibri"/>
            </a:endParaRPr>
          </a:p>
        </p:txBody>
      </p:sp>
      <p:sp>
        <p:nvSpPr>
          <p:cNvPr id="503" name="Google Shape;503;p42"/>
          <p:cNvSpPr txBox="1"/>
          <p:nvPr/>
        </p:nvSpPr>
        <p:spPr>
          <a:xfrm>
            <a:off x="2427398" y="1138425"/>
            <a:ext cx="1002300" cy="170400"/>
          </a:xfrm>
          <a:prstGeom prst="rect">
            <a:avLst/>
          </a:prstGeom>
          <a:noFill/>
          <a:ln>
            <a:noFill/>
          </a:ln>
        </p:spPr>
        <p:txBody>
          <a:bodyPr anchorCtr="0" anchor="t" bIns="30350" lIns="60750" spcFirstLastPara="1" rIns="60750" wrap="square" tIns="30350">
            <a:spAutoFit/>
          </a:bodyPr>
          <a:lstStyle/>
          <a:p>
            <a:pPr indent="0" lvl="0" marL="0" marR="0" rtl="0" algn="ctr">
              <a:spcBef>
                <a:spcPts val="0"/>
              </a:spcBef>
              <a:spcAft>
                <a:spcPts val="0"/>
              </a:spcAft>
              <a:buNone/>
            </a:pPr>
            <a:r>
              <a:rPr b="1" i="0" lang="en" sz="709" u="none" cap="none" strike="noStrike">
                <a:solidFill>
                  <a:srgbClr val="14263F"/>
                </a:solidFill>
                <a:latin typeface="Arial"/>
                <a:ea typeface="Arial"/>
                <a:cs typeface="Arial"/>
                <a:sym typeface="Arial"/>
              </a:rPr>
              <a:t>Weather API</a:t>
            </a:r>
            <a:endParaRPr sz="974"/>
          </a:p>
        </p:txBody>
      </p:sp>
      <p:sp>
        <p:nvSpPr>
          <p:cNvPr id="504" name="Google Shape;504;p42"/>
          <p:cNvSpPr txBox="1"/>
          <p:nvPr/>
        </p:nvSpPr>
        <p:spPr>
          <a:xfrm>
            <a:off x="2427398" y="1296377"/>
            <a:ext cx="1002300" cy="225000"/>
          </a:xfrm>
          <a:prstGeom prst="rect">
            <a:avLst/>
          </a:prstGeom>
          <a:noFill/>
          <a:ln>
            <a:noFill/>
          </a:ln>
        </p:spPr>
        <p:txBody>
          <a:bodyPr anchorCtr="0" anchor="t" bIns="30350" lIns="60750" spcFirstLastPara="1" rIns="60750" wrap="square" tIns="30350">
            <a:spAutoFit/>
          </a:bodyPr>
          <a:lstStyle/>
          <a:p>
            <a:pPr indent="0" lvl="0" marL="0" marR="0" rtl="0" algn="ctr">
              <a:spcBef>
                <a:spcPts val="0"/>
              </a:spcBef>
              <a:spcAft>
                <a:spcPts val="0"/>
              </a:spcAft>
              <a:buNone/>
            </a:pPr>
            <a:r>
              <a:rPr b="0" i="0" lang="en" sz="532" u="none" cap="none" strike="noStrike">
                <a:solidFill>
                  <a:srgbClr val="2D3748"/>
                </a:solidFill>
                <a:latin typeface="Arial"/>
                <a:ea typeface="Arial"/>
                <a:cs typeface="Arial"/>
                <a:sym typeface="Arial"/>
              </a:rPr>
              <a:t>current + recent</a:t>
            </a:r>
            <a:br>
              <a:rPr b="0" i="0" lang="en" sz="532" u="none" cap="none" strike="noStrike">
                <a:solidFill>
                  <a:srgbClr val="2D3748"/>
                </a:solidFill>
                <a:latin typeface="Arial"/>
                <a:ea typeface="Arial"/>
                <a:cs typeface="Arial"/>
                <a:sym typeface="Arial"/>
              </a:rPr>
            </a:br>
            <a:r>
              <a:rPr b="0" i="0" lang="en" sz="532" u="none" cap="none" strike="noStrike">
                <a:solidFill>
                  <a:srgbClr val="2D3748"/>
                </a:solidFill>
                <a:latin typeface="Arial"/>
                <a:ea typeface="Arial"/>
                <a:cs typeface="Arial"/>
                <a:sym typeface="Arial"/>
              </a:rPr>
              <a:t>weather history</a:t>
            </a:r>
            <a:endParaRPr sz="974"/>
          </a:p>
        </p:txBody>
      </p:sp>
      <p:sp>
        <p:nvSpPr>
          <p:cNvPr id="505" name="Google Shape;505;p42"/>
          <p:cNvSpPr/>
          <p:nvPr/>
        </p:nvSpPr>
        <p:spPr>
          <a:xfrm>
            <a:off x="3533085" y="1266001"/>
            <a:ext cx="231000" cy="145800"/>
          </a:xfrm>
          <a:prstGeom prst="rightArrow">
            <a:avLst>
              <a:gd fmla="val 50000" name="adj1"/>
              <a:gd fmla="val 50000" name="adj2"/>
            </a:avLst>
          </a:prstGeom>
          <a:solidFill>
            <a:srgbClr val="64748B"/>
          </a:solidFill>
          <a:ln>
            <a:noFill/>
          </a:ln>
          <a:effectLst>
            <a:outerShdw blurRad="35433" rotWithShape="0" dir="5400000" dist="20374">
              <a:srgbClr val="000000">
                <a:alpha val="34902"/>
              </a:srgbClr>
            </a:outerShdw>
          </a:effectLst>
        </p:spPr>
        <p:txBody>
          <a:bodyPr anchorCtr="0" anchor="ctr" bIns="30350" lIns="60750" spcFirstLastPara="1" rIns="60750" wrap="square" tIns="30350">
            <a:noAutofit/>
          </a:bodyPr>
          <a:lstStyle/>
          <a:p>
            <a:pPr indent="0" lvl="0" marL="0" marR="0" rtl="0" algn="ctr">
              <a:spcBef>
                <a:spcPts val="0"/>
              </a:spcBef>
              <a:spcAft>
                <a:spcPts val="0"/>
              </a:spcAft>
              <a:buNone/>
            </a:pPr>
            <a:r>
              <a:t/>
            </a:r>
            <a:endParaRPr b="0" i="0" sz="1240" u="none" cap="none" strike="noStrike">
              <a:solidFill>
                <a:schemeClr val="dk1"/>
              </a:solidFill>
              <a:latin typeface="Calibri"/>
              <a:ea typeface="Calibri"/>
              <a:cs typeface="Calibri"/>
              <a:sym typeface="Calibri"/>
            </a:endParaRPr>
          </a:p>
        </p:txBody>
      </p:sp>
      <p:sp>
        <p:nvSpPr>
          <p:cNvPr id="506" name="Google Shape;506;p42"/>
          <p:cNvSpPr/>
          <p:nvPr/>
        </p:nvSpPr>
        <p:spPr>
          <a:xfrm>
            <a:off x="3763943" y="1016925"/>
            <a:ext cx="1123800" cy="637800"/>
          </a:xfrm>
          <a:prstGeom prst="roundRect">
            <a:avLst>
              <a:gd fmla="val 16667" name="adj"/>
            </a:avLst>
          </a:prstGeom>
          <a:solidFill>
            <a:srgbClr val="FFFFFF"/>
          </a:solidFill>
          <a:ln cap="flat" cmpd="sng" w="14075">
            <a:solidFill>
              <a:srgbClr val="2D67B5"/>
            </a:solidFill>
            <a:prstDash val="solid"/>
            <a:round/>
            <a:headEnd len="sm" w="sm" type="none"/>
            <a:tailEnd len="sm" w="sm" type="none"/>
          </a:ln>
          <a:effectLst>
            <a:outerShdw blurRad="35433" rotWithShape="0" dir="5400000" dist="20374">
              <a:srgbClr val="000000">
                <a:alpha val="34902"/>
              </a:srgbClr>
            </a:outerShdw>
          </a:effectLst>
        </p:spPr>
        <p:txBody>
          <a:bodyPr anchorCtr="0" anchor="ctr" bIns="30350" lIns="60750" spcFirstLastPara="1" rIns="60750" wrap="square" tIns="30350">
            <a:noAutofit/>
          </a:bodyPr>
          <a:lstStyle/>
          <a:p>
            <a:pPr indent="0" lvl="0" marL="0" marR="0" rtl="0" algn="ctr">
              <a:spcBef>
                <a:spcPts val="0"/>
              </a:spcBef>
              <a:spcAft>
                <a:spcPts val="0"/>
              </a:spcAft>
              <a:buNone/>
            </a:pPr>
            <a:r>
              <a:t/>
            </a:r>
            <a:endParaRPr b="0" i="0" sz="1240" u="none" cap="none" strike="noStrike">
              <a:solidFill>
                <a:schemeClr val="dk1"/>
              </a:solidFill>
              <a:latin typeface="Calibri"/>
              <a:ea typeface="Calibri"/>
              <a:cs typeface="Calibri"/>
              <a:sym typeface="Calibri"/>
            </a:endParaRPr>
          </a:p>
        </p:txBody>
      </p:sp>
      <p:sp>
        <p:nvSpPr>
          <p:cNvPr id="507" name="Google Shape;507;p42"/>
          <p:cNvSpPr txBox="1"/>
          <p:nvPr/>
        </p:nvSpPr>
        <p:spPr>
          <a:xfrm>
            <a:off x="3824694" y="1138425"/>
            <a:ext cx="1002300" cy="170400"/>
          </a:xfrm>
          <a:prstGeom prst="rect">
            <a:avLst/>
          </a:prstGeom>
          <a:noFill/>
          <a:ln>
            <a:noFill/>
          </a:ln>
        </p:spPr>
        <p:txBody>
          <a:bodyPr anchorCtr="0" anchor="t" bIns="30350" lIns="60750" spcFirstLastPara="1" rIns="60750" wrap="square" tIns="30350">
            <a:spAutoFit/>
          </a:bodyPr>
          <a:lstStyle/>
          <a:p>
            <a:pPr indent="0" lvl="0" marL="0" marR="0" rtl="0" algn="ctr">
              <a:spcBef>
                <a:spcPts val="0"/>
              </a:spcBef>
              <a:spcAft>
                <a:spcPts val="0"/>
              </a:spcAft>
              <a:buNone/>
            </a:pPr>
            <a:r>
              <a:rPr b="1" i="0" lang="en" sz="709" u="none" cap="none" strike="noStrike">
                <a:solidFill>
                  <a:srgbClr val="14263F"/>
                </a:solidFill>
                <a:latin typeface="Arial"/>
                <a:ea typeface="Arial"/>
                <a:cs typeface="Arial"/>
                <a:sym typeface="Arial"/>
              </a:rPr>
              <a:t>Feature prep</a:t>
            </a:r>
            <a:endParaRPr sz="974"/>
          </a:p>
        </p:txBody>
      </p:sp>
      <p:sp>
        <p:nvSpPr>
          <p:cNvPr id="508" name="Google Shape;508;p42"/>
          <p:cNvSpPr txBox="1"/>
          <p:nvPr/>
        </p:nvSpPr>
        <p:spPr>
          <a:xfrm>
            <a:off x="3824694" y="1296377"/>
            <a:ext cx="1002300" cy="225000"/>
          </a:xfrm>
          <a:prstGeom prst="rect">
            <a:avLst/>
          </a:prstGeom>
          <a:noFill/>
          <a:ln>
            <a:noFill/>
          </a:ln>
        </p:spPr>
        <p:txBody>
          <a:bodyPr anchorCtr="0" anchor="t" bIns="30350" lIns="60750" spcFirstLastPara="1" rIns="60750" wrap="square" tIns="30350">
            <a:spAutoFit/>
          </a:bodyPr>
          <a:lstStyle/>
          <a:p>
            <a:pPr indent="0" lvl="0" marL="0" marR="0" rtl="0" algn="ctr">
              <a:spcBef>
                <a:spcPts val="0"/>
              </a:spcBef>
              <a:spcAft>
                <a:spcPts val="0"/>
              </a:spcAft>
              <a:buNone/>
            </a:pPr>
            <a:r>
              <a:rPr b="0" i="0" lang="en" sz="532" u="none" cap="none" strike="noStrike">
                <a:solidFill>
                  <a:srgbClr val="2D3748"/>
                </a:solidFill>
                <a:latin typeface="Arial"/>
                <a:ea typeface="Arial"/>
                <a:cs typeface="Arial"/>
                <a:sym typeface="Arial"/>
              </a:rPr>
              <a:t>lags, rolling mean,</a:t>
            </a:r>
            <a:br>
              <a:rPr b="0" i="0" lang="en" sz="532" u="none" cap="none" strike="noStrike">
                <a:solidFill>
                  <a:srgbClr val="2D3748"/>
                </a:solidFill>
                <a:latin typeface="Arial"/>
                <a:ea typeface="Arial"/>
                <a:cs typeface="Arial"/>
                <a:sym typeface="Arial"/>
              </a:rPr>
            </a:br>
            <a:r>
              <a:rPr b="0" i="0" lang="en" sz="532" u="none" cap="none" strike="noStrike">
                <a:solidFill>
                  <a:srgbClr val="2D3748"/>
                </a:solidFill>
                <a:latin typeface="Arial"/>
                <a:ea typeface="Arial"/>
                <a:cs typeface="Arial"/>
                <a:sym typeface="Arial"/>
              </a:rPr>
              <a:t>seasonal features</a:t>
            </a:r>
            <a:endParaRPr sz="974"/>
          </a:p>
        </p:txBody>
      </p:sp>
      <p:sp>
        <p:nvSpPr>
          <p:cNvPr id="509" name="Google Shape;509;p42"/>
          <p:cNvSpPr/>
          <p:nvPr/>
        </p:nvSpPr>
        <p:spPr>
          <a:xfrm>
            <a:off x="4930382" y="1266001"/>
            <a:ext cx="231000" cy="145800"/>
          </a:xfrm>
          <a:prstGeom prst="rightArrow">
            <a:avLst>
              <a:gd fmla="val 50000" name="adj1"/>
              <a:gd fmla="val 50000" name="adj2"/>
            </a:avLst>
          </a:prstGeom>
          <a:solidFill>
            <a:srgbClr val="64748B"/>
          </a:solidFill>
          <a:ln>
            <a:noFill/>
          </a:ln>
          <a:effectLst>
            <a:outerShdw blurRad="35433" rotWithShape="0" dir="5400000" dist="20374">
              <a:srgbClr val="000000">
                <a:alpha val="34902"/>
              </a:srgbClr>
            </a:outerShdw>
          </a:effectLst>
        </p:spPr>
        <p:txBody>
          <a:bodyPr anchorCtr="0" anchor="ctr" bIns="30350" lIns="60750" spcFirstLastPara="1" rIns="60750" wrap="square" tIns="30350">
            <a:noAutofit/>
          </a:bodyPr>
          <a:lstStyle/>
          <a:p>
            <a:pPr indent="0" lvl="0" marL="0" marR="0" rtl="0" algn="ctr">
              <a:spcBef>
                <a:spcPts val="0"/>
              </a:spcBef>
              <a:spcAft>
                <a:spcPts val="0"/>
              </a:spcAft>
              <a:buNone/>
            </a:pPr>
            <a:r>
              <a:t/>
            </a:r>
            <a:endParaRPr b="0" i="0" sz="1240" u="none" cap="none" strike="noStrike">
              <a:solidFill>
                <a:schemeClr val="dk1"/>
              </a:solidFill>
              <a:latin typeface="Calibri"/>
              <a:ea typeface="Calibri"/>
              <a:cs typeface="Calibri"/>
              <a:sym typeface="Calibri"/>
            </a:endParaRPr>
          </a:p>
        </p:txBody>
      </p:sp>
      <p:sp>
        <p:nvSpPr>
          <p:cNvPr id="510" name="Google Shape;510;p42"/>
          <p:cNvSpPr/>
          <p:nvPr/>
        </p:nvSpPr>
        <p:spPr>
          <a:xfrm>
            <a:off x="5161240" y="1016925"/>
            <a:ext cx="1123800" cy="637800"/>
          </a:xfrm>
          <a:prstGeom prst="roundRect">
            <a:avLst>
              <a:gd fmla="val 16667" name="adj"/>
            </a:avLst>
          </a:prstGeom>
          <a:solidFill>
            <a:srgbClr val="E2F4F3"/>
          </a:solidFill>
          <a:ln cap="flat" cmpd="sng" w="14075">
            <a:solidFill>
              <a:srgbClr val="238589"/>
            </a:solidFill>
            <a:prstDash val="solid"/>
            <a:round/>
            <a:headEnd len="sm" w="sm" type="none"/>
            <a:tailEnd len="sm" w="sm" type="none"/>
          </a:ln>
          <a:effectLst>
            <a:outerShdw blurRad="35433" rotWithShape="0" dir="5400000" dist="20374">
              <a:srgbClr val="000000">
                <a:alpha val="34902"/>
              </a:srgbClr>
            </a:outerShdw>
          </a:effectLst>
        </p:spPr>
        <p:txBody>
          <a:bodyPr anchorCtr="0" anchor="ctr" bIns="30350" lIns="60750" spcFirstLastPara="1" rIns="60750" wrap="square" tIns="30350">
            <a:noAutofit/>
          </a:bodyPr>
          <a:lstStyle/>
          <a:p>
            <a:pPr indent="0" lvl="0" marL="0" marR="0" rtl="0" algn="ctr">
              <a:spcBef>
                <a:spcPts val="0"/>
              </a:spcBef>
              <a:spcAft>
                <a:spcPts val="0"/>
              </a:spcAft>
              <a:buNone/>
            </a:pPr>
            <a:r>
              <a:t/>
            </a:r>
            <a:endParaRPr b="0" i="0" sz="1240" u="none" cap="none" strike="noStrike">
              <a:solidFill>
                <a:schemeClr val="dk1"/>
              </a:solidFill>
              <a:latin typeface="Calibri"/>
              <a:ea typeface="Calibri"/>
              <a:cs typeface="Calibri"/>
              <a:sym typeface="Calibri"/>
            </a:endParaRPr>
          </a:p>
        </p:txBody>
      </p:sp>
      <p:sp>
        <p:nvSpPr>
          <p:cNvPr id="511" name="Google Shape;511;p42"/>
          <p:cNvSpPr txBox="1"/>
          <p:nvPr/>
        </p:nvSpPr>
        <p:spPr>
          <a:xfrm>
            <a:off x="5221992" y="1138425"/>
            <a:ext cx="1002300" cy="170400"/>
          </a:xfrm>
          <a:prstGeom prst="rect">
            <a:avLst/>
          </a:prstGeom>
          <a:noFill/>
          <a:ln>
            <a:noFill/>
          </a:ln>
        </p:spPr>
        <p:txBody>
          <a:bodyPr anchorCtr="0" anchor="t" bIns="30350" lIns="60750" spcFirstLastPara="1" rIns="60750" wrap="square" tIns="30350">
            <a:spAutoFit/>
          </a:bodyPr>
          <a:lstStyle/>
          <a:p>
            <a:pPr indent="0" lvl="0" marL="0" marR="0" rtl="0" algn="ctr">
              <a:spcBef>
                <a:spcPts val="0"/>
              </a:spcBef>
              <a:spcAft>
                <a:spcPts val="0"/>
              </a:spcAft>
              <a:buNone/>
            </a:pPr>
            <a:r>
              <a:rPr b="1" i="0" lang="en" sz="709" u="none" cap="none" strike="noStrike">
                <a:solidFill>
                  <a:srgbClr val="14263F"/>
                </a:solidFill>
                <a:latin typeface="Arial"/>
                <a:ea typeface="Arial"/>
                <a:cs typeface="Arial"/>
                <a:sym typeface="Arial"/>
              </a:rPr>
              <a:t>Saved models</a:t>
            </a:r>
            <a:endParaRPr sz="974"/>
          </a:p>
        </p:txBody>
      </p:sp>
      <p:sp>
        <p:nvSpPr>
          <p:cNvPr id="512" name="Google Shape;512;p42"/>
          <p:cNvSpPr txBox="1"/>
          <p:nvPr/>
        </p:nvSpPr>
        <p:spPr>
          <a:xfrm>
            <a:off x="5221992" y="1296377"/>
            <a:ext cx="1002300" cy="143100"/>
          </a:xfrm>
          <a:prstGeom prst="rect">
            <a:avLst/>
          </a:prstGeom>
          <a:noFill/>
          <a:ln>
            <a:noFill/>
          </a:ln>
        </p:spPr>
        <p:txBody>
          <a:bodyPr anchorCtr="0" anchor="t" bIns="30350" lIns="60750" spcFirstLastPara="1" rIns="60750" wrap="square" tIns="30350">
            <a:spAutoFit/>
          </a:bodyPr>
          <a:lstStyle/>
          <a:p>
            <a:pPr indent="0" lvl="0" marL="0" marR="0" rtl="0" algn="ctr">
              <a:spcBef>
                <a:spcPts val="0"/>
              </a:spcBef>
              <a:spcAft>
                <a:spcPts val="0"/>
              </a:spcAft>
              <a:buNone/>
            </a:pPr>
            <a:r>
              <a:rPr b="0" i="0" lang="en" sz="532" u="none" cap="none" strike="noStrike">
                <a:solidFill>
                  <a:srgbClr val="2D3748"/>
                </a:solidFill>
                <a:latin typeface="Arial"/>
                <a:ea typeface="Arial"/>
                <a:cs typeface="Arial"/>
                <a:sym typeface="Arial"/>
              </a:rPr>
              <a:t>CatBoost + Ridge</a:t>
            </a:r>
            <a:endParaRPr sz="974"/>
          </a:p>
        </p:txBody>
      </p:sp>
      <p:sp>
        <p:nvSpPr>
          <p:cNvPr id="513" name="Google Shape;513;p42"/>
          <p:cNvSpPr/>
          <p:nvPr/>
        </p:nvSpPr>
        <p:spPr>
          <a:xfrm>
            <a:off x="6327679" y="1266001"/>
            <a:ext cx="231000" cy="145800"/>
          </a:xfrm>
          <a:prstGeom prst="rightArrow">
            <a:avLst>
              <a:gd fmla="val 50000" name="adj1"/>
              <a:gd fmla="val 50000" name="adj2"/>
            </a:avLst>
          </a:prstGeom>
          <a:solidFill>
            <a:srgbClr val="64748B"/>
          </a:solidFill>
          <a:ln>
            <a:noFill/>
          </a:ln>
          <a:effectLst>
            <a:outerShdw blurRad="35433" rotWithShape="0" dir="5400000" dist="20374">
              <a:srgbClr val="000000">
                <a:alpha val="34902"/>
              </a:srgbClr>
            </a:outerShdw>
          </a:effectLst>
        </p:spPr>
        <p:txBody>
          <a:bodyPr anchorCtr="0" anchor="ctr" bIns="30350" lIns="60750" spcFirstLastPara="1" rIns="60750" wrap="square" tIns="30350">
            <a:noAutofit/>
          </a:bodyPr>
          <a:lstStyle/>
          <a:p>
            <a:pPr indent="0" lvl="0" marL="0" marR="0" rtl="0" algn="ctr">
              <a:spcBef>
                <a:spcPts val="0"/>
              </a:spcBef>
              <a:spcAft>
                <a:spcPts val="0"/>
              </a:spcAft>
              <a:buNone/>
            </a:pPr>
            <a:r>
              <a:t/>
            </a:r>
            <a:endParaRPr b="0" i="0" sz="1240" u="none" cap="none" strike="noStrike">
              <a:solidFill>
                <a:schemeClr val="dk1"/>
              </a:solidFill>
              <a:latin typeface="Calibri"/>
              <a:ea typeface="Calibri"/>
              <a:cs typeface="Calibri"/>
              <a:sym typeface="Calibri"/>
            </a:endParaRPr>
          </a:p>
        </p:txBody>
      </p:sp>
      <p:sp>
        <p:nvSpPr>
          <p:cNvPr id="514" name="Google Shape;514;p42"/>
          <p:cNvSpPr/>
          <p:nvPr/>
        </p:nvSpPr>
        <p:spPr>
          <a:xfrm>
            <a:off x="6558537" y="1016925"/>
            <a:ext cx="1123800" cy="637800"/>
          </a:xfrm>
          <a:prstGeom prst="roundRect">
            <a:avLst>
              <a:gd fmla="val 16667" name="adj"/>
            </a:avLst>
          </a:prstGeom>
          <a:solidFill>
            <a:srgbClr val="FFFFFF"/>
          </a:solidFill>
          <a:ln cap="flat" cmpd="sng" w="14075">
            <a:solidFill>
              <a:srgbClr val="2D67B5"/>
            </a:solidFill>
            <a:prstDash val="solid"/>
            <a:round/>
            <a:headEnd len="sm" w="sm" type="none"/>
            <a:tailEnd len="sm" w="sm" type="none"/>
          </a:ln>
          <a:effectLst>
            <a:outerShdw blurRad="35433" rotWithShape="0" dir="5400000" dist="20374">
              <a:srgbClr val="000000">
                <a:alpha val="34902"/>
              </a:srgbClr>
            </a:outerShdw>
          </a:effectLst>
        </p:spPr>
        <p:txBody>
          <a:bodyPr anchorCtr="0" anchor="ctr" bIns="30350" lIns="60750" spcFirstLastPara="1" rIns="60750" wrap="square" tIns="30350">
            <a:noAutofit/>
          </a:bodyPr>
          <a:lstStyle/>
          <a:p>
            <a:pPr indent="0" lvl="0" marL="0" marR="0" rtl="0" algn="ctr">
              <a:spcBef>
                <a:spcPts val="0"/>
              </a:spcBef>
              <a:spcAft>
                <a:spcPts val="0"/>
              </a:spcAft>
              <a:buNone/>
            </a:pPr>
            <a:r>
              <a:t/>
            </a:r>
            <a:endParaRPr b="0" i="0" sz="1240" u="none" cap="none" strike="noStrike">
              <a:solidFill>
                <a:schemeClr val="dk1"/>
              </a:solidFill>
              <a:latin typeface="Calibri"/>
              <a:ea typeface="Calibri"/>
              <a:cs typeface="Calibri"/>
              <a:sym typeface="Calibri"/>
            </a:endParaRPr>
          </a:p>
        </p:txBody>
      </p:sp>
      <p:sp>
        <p:nvSpPr>
          <p:cNvPr id="515" name="Google Shape;515;p42"/>
          <p:cNvSpPr txBox="1"/>
          <p:nvPr/>
        </p:nvSpPr>
        <p:spPr>
          <a:xfrm>
            <a:off x="6619288" y="1138425"/>
            <a:ext cx="1002300" cy="170400"/>
          </a:xfrm>
          <a:prstGeom prst="rect">
            <a:avLst/>
          </a:prstGeom>
          <a:noFill/>
          <a:ln>
            <a:noFill/>
          </a:ln>
        </p:spPr>
        <p:txBody>
          <a:bodyPr anchorCtr="0" anchor="t" bIns="30350" lIns="60750" spcFirstLastPara="1" rIns="60750" wrap="square" tIns="30350">
            <a:spAutoFit/>
          </a:bodyPr>
          <a:lstStyle/>
          <a:p>
            <a:pPr indent="0" lvl="0" marL="0" marR="0" rtl="0" algn="ctr">
              <a:spcBef>
                <a:spcPts val="0"/>
              </a:spcBef>
              <a:spcAft>
                <a:spcPts val="0"/>
              </a:spcAft>
              <a:buNone/>
            </a:pPr>
            <a:r>
              <a:rPr b="1" i="0" lang="en" sz="709" u="none" cap="none" strike="noStrike">
                <a:solidFill>
                  <a:srgbClr val="14263F"/>
                </a:solidFill>
                <a:latin typeface="Arial"/>
                <a:ea typeface="Arial"/>
                <a:cs typeface="Arial"/>
                <a:sym typeface="Arial"/>
              </a:rPr>
              <a:t>Forecast</a:t>
            </a:r>
            <a:endParaRPr sz="974"/>
          </a:p>
        </p:txBody>
      </p:sp>
      <p:sp>
        <p:nvSpPr>
          <p:cNvPr id="516" name="Google Shape;516;p42"/>
          <p:cNvSpPr txBox="1"/>
          <p:nvPr/>
        </p:nvSpPr>
        <p:spPr>
          <a:xfrm>
            <a:off x="6619288" y="1296377"/>
            <a:ext cx="1002300" cy="225000"/>
          </a:xfrm>
          <a:prstGeom prst="rect">
            <a:avLst/>
          </a:prstGeom>
          <a:noFill/>
          <a:ln>
            <a:noFill/>
          </a:ln>
        </p:spPr>
        <p:txBody>
          <a:bodyPr anchorCtr="0" anchor="t" bIns="30350" lIns="60750" spcFirstLastPara="1" rIns="60750" wrap="square" tIns="30350">
            <a:spAutoFit/>
          </a:bodyPr>
          <a:lstStyle/>
          <a:p>
            <a:pPr indent="0" lvl="0" marL="0" marR="0" rtl="0" algn="ctr">
              <a:spcBef>
                <a:spcPts val="0"/>
              </a:spcBef>
              <a:spcAft>
                <a:spcPts val="0"/>
              </a:spcAft>
              <a:buNone/>
            </a:pPr>
            <a:r>
              <a:rPr b="0" i="0" lang="en" sz="532" u="none" cap="none" strike="noStrike">
                <a:solidFill>
                  <a:srgbClr val="2D3748"/>
                </a:solidFill>
                <a:latin typeface="Arial"/>
                <a:ea typeface="Arial"/>
                <a:cs typeface="Arial"/>
                <a:sym typeface="Arial"/>
              </a:rPr>
              <a:t>next-day</a:t>
            </a:r>
            <a:br>
              <a:rPr b="0" i="0" lang="en" sz="532" u="none" cap="none" strike="noStrike">
                <a:solidFill>
                  <a:srgbClr val="2D3748"/>
                </a:solidFill>
                <a:latin typeface="Arial"/>
                <a:ea typeface="Arial"/>
                <a:cs typeface="Arial"/>
                <a:sym typeface="Arial"/>
              </a:rPr>
            </a:br>
            <a:r>
              <a:rPr b="0" i="0" lang="en" sz="532" u="none" cap="none" strike="noStrike">
                <a:solidFill>
                  <a:srgbClr val="2D3748"/>
                </a:solidFill>
                <a:latin typeface="Arial"/>
                <a:ea typeface="Arial"/>
                <a:cs typeface="Arial"/>
                <a:sym typeface="Arial"/>
              </a:rPr>
              <a:t>temperature</a:t>
            </a:r>
            <a:endParaRPr sz="974"/>
          </a:p>
        </p:txBody>
      </p:sp>
      <p:sp>
        <p:nvSpPr>
          <p:cNvPr id="517" name="Google Shape;517;p42"/>
          <p:cNvSpPr/>
          <p:nvPr/>
        </p:nvSpPr>
        <p:spPr>
          <a:xfrm>
            <a:off x="358525" y="4015400"/>
            <a:ext cx="2681700" cy="637800"/>
          </a:xfrm>
          <a:prstGeom prst="roundRect">
            <a:avLst>
              <a:gd fmla="val 16667" name="adj"/>
            </a:avLst>
          </a:prstGeom>
          <a:solidFill>
            <a:srgbClr val="FFFFFF"/>
          </a:solidFill>
          <a:ln cap="flat" cmpd="sng" w="9525">
            <a:solidFill>
              <a:srgbClr val="D6DE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18" name="Google Shape;518;p42"/>
          <p:cNvSpPr txBox="1"/>
          <p:nvPr/>
        </p:nvSpPr>
        <p:spPr>
          <a:xfrm>
            <a:off x="481542" y="4138844"/>
            <a:ext cx="9102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00" u="none" cap="none" strike="noStrike">
                <a:solidFill>
                  <a:srgbClr val="238589"/>
                </a:solidFill>
                <a:latin typeface="Arial"/>
                <a:ea typeface="Arial"/>
                <a:cs typeface="Arial"/>
                <a:sym typeface="Arial"/>
              </a:rPr>
              <a:t>FastAPI interface</a:t>
            </a:r>
            <a:endParaRPr sz="1100"/>
          </a:p>
        </p:txBody>
      </p:sp>
      <p:sp>
        <p:nvSpPr>
          <p:cNvPr id="519" name="Google Shape;519;p42"/>
          <p:cNvSpPr txBox="1"/>
          <p:nvPr/>
        </p:nvSpPr>
        <p:spPr>
          <a:xfrm>
            <a:off x="1293458" y="4125128"/>
            <a:ext cx="15993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700" u="none" cap="none" strike="noStrike">
                <a:solidFill>
                  <a:srgbClr val="2D3748"/>
                </a:solidFill>
                <a:latin typeface="Arial"/>
                <a:ea typeface="Arial"/>
                <a:cs typeface="Arial"/>
                <a:sym typeface="Arial"/>
              </a:rPr>
              <a:t>GET /predict accepts city and country, then returns feature values and the ensemble forecast.</a:t>
            </a:r>
            <a:endParaRPr sz="1100"/>
          </a:p>
        </p:txBody>
      </p:sp>
      <p:sp>
        <p:nvSpPr>
          <p:cNvPr id="520" name="Google Shape;520;p42"/>
          <p:cNvSpPr txBox="1"/>
          <p:nvPr/>
        </p:nvSpPr>
        <p:spPr>
          <a:xfrm>
            <a:off x="562371" y="4746397"/>
            <a:ext cx="7784100" cy="177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700" u="none" cap="none" strike="noStrike">
                <a:solidFill>
                  <a:srgbClr val="64748B"/>
                </a:solidFill>
                <a:latin typeface="Arial"/>
                <a:ea typeface="Arial"/>
                <a:cs typeface="Arial"/>
                <a:sym typeface="Arial"/>
              </a:rPr>
              <a:t>Note: the demo uses live Open-Meteo inputs, while the model was trained on the Kaggle dataset, so it demonstrates deployment flow rather than separately validated production performance.</a:t>
            </a:r>
            <a:endParaRPr sz="1100"/>
          </a:p>
        </p:txBody>
      </p:sp>
      <p:sp>
        <p:nvSpPr>
          <p:cNvPr id="521" name="Google Shape;521;p42"/>
          <p:cNvSpPr txBox="1"/>
          <p:nvPr/>
        </p:nvSpPr>
        <p:spPr>
          <a:xfrm>
            <a:off x="514382" y="4972044"/>
            <a:ext cx="58296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600" u="none" cap="none" strike="noStrike">
                <a:solidFill>
                  <a:srgbClr val="64748B"/>
                </a:solidFill>
                <a:latin typeface="Arial"/>
                <a:ea typeface="Arial"/>
                <a:cs typeface="Arial"/>
                <a:sym typeface="Arial"/>
              </a:rPr>
              <a:t>Rola Elabd  |  Weather Trend Forecasting</a:t>
            </a:r>
            <a:endParaRPr sz="1100"/>
          </a:p>
        </p:txBody>
      </p:sp>
      <p:sp>
        <p:nvSpPr>
          <p:cNvPr id="522" name="Google Shape;522;p42"/>
          <p:cNvSpPr txBox="1"/>
          <p:nvPr/>
        </p:nvSpPr>
        <p:spPr>
          <a:xfrm>
            <a:off x="8298401" y="4924044"/>
            <a:ext cx="377200" cy="123444"/>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 sz="600" u="none" cap="none" strike="noStrike">
                <a:solidFill>
                  <a:srgbClr val="64748B"/>
                </a:solidFill>
                <a:latin typeface="Arial"/>
                <a:ea typeface="Arial"/>
                <a:cs typeface="Arial"/>
                <a:sym typeface="Arial"/>
              </a:rPr>
              <a:t>16</a:t>
            </a:r>
            <a:endParaRPr sz="1100"/>
          </a:p>
        </p:txBody>
      </p:sp>
      <p:pic>
        <p:nvPicPr>
          <p:cNvPr id="523" name="Google Shape;523;p42"/>
          <p:cNvPicPr preferRelativeResize="0"/>
          <p:nvPr/>
        </p:nvPicPr>
        <p:blipFill rotWithShape="1">
          <a:blip r:embed="rId3">
            <a:alphaModFix/>
          </a:blip>
          <a:srcRect b="42598" l="0" r="0" t="0"/>
          <a:stretch/>
        </p:blipFill>
        <p:spPr>
          <a:xfrm>
            <a:off x="3319000" y="1794125"/>
            <a:ext cx="4979400" cy="27804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27" name="Shape 527"/>
        <p:cNvGrpSpPr/>
        <p:nvPr/>
      </p:nvGrpSpPr>
      <p:grpSpPr>
        <a:xfrm>
          <a:off x="0" y="0"/>
          <a:ext cx="0" cy="0"/>
          <a:chOff x="0" y="0"/>
          <a:chExt cx="0" cy="0"/>
        </a:xfrm>
      </p:grpSpPr>
      <p:pic>
        <p:nvPicPr>
          <p:cNvPr descr="a_wide_ultra_realistic_high_resolution_photograp.png" id="528" name="Google Shape;528;p43"/>
          <p:cNvPicPr preferRelativeResize="0"/>
          <p:nvPr/>
        </p:nvPicPr>
        <p:blipFill rotWithShape="1">
          <a:blip r:embed="rId3">
            <a:alphaModFix/>
          </a:blip>
          <a:srcRect b="0" l="0" r="0" t="0"/>
          <a:stretch/>
        </p:blipFill>
        <p:spPr>
          <a:xfrm>
            <a:off x="0" y="0"/>
            <a:ext cx="9143771" cy="5143499"/>
          </a:xfrm>
          <a:prstGeom prst="rect">
            <a:avLst/>
          </a:prstGeom>
          <a:noFill/>
          <a:ln>
            <a:noFill/>
          </a:ln>
        </p:spPr>
      </p:pic>
      <p:sp>
        <p:nvSpPr>
          <p:cNvPr id="529" name="Google Shape;529;p43"/>
          <p:cNvSpPr/>
          <p:nvPr/>
        </p:nvSpPr>
        <p:spPr>
          <a:xfrm>
            <a:off x="0" y="0"/>
            <a:ext cx="9143700" cy="5143500"/>
          </a:xfrm>
          <a:prstGeom prst="rect">
            <a:avLst/>
          </a:prstGeom>
          <a:solidFill>
            <a:srgbClr val="14263F">
              <a:alpha val="32940"/>
            </a:srgbClr>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30" name="Google Shape;530;p43"/>
          <p:cNvSpPr txBox="1"/>
          <p:nvPr/>
        </p:nvSpPr>
        <p:spPr>
          <a:xfrm>
            <a:off x="1899450" y="2009850"/>
            <a:ext cx="5345100" cy="561900"/>
          </a:xfrm>
          <a:prstGeom prst="rect">
            <a:avLst/>
          </a:prstGeom>
          <a:noFill/>
          <a:ln>
            <a:noFill/>
          </a:ln>
          <a:effectLst>
            <a:outerShdw blurRad="100013" rotWithShape="0" algn="bl" dir="8040000" dist="85725">
              <a:srgbClr val="000000">
                <a:alpha val="94000"/>
              </a:srgbClr>
            </a:outerShdw>
          </a:effectLst>
        </p:spPr>
        <p:txBody>
          <a:bodyPr anchorCtr="0" anchor="t" bIns="34275" lIns="68575" spcFirstLastPara="1" rIns="68575" wrap="square" tIns="34275">
            <a:spAutoFit/>
          </a:bodyPr>
          <a:lstStyle/>
          <a:p>
            <a:pPr indent="0" lvl="0" marL="0" marR="0" rtl="0" algn="ctr">
              <a:spcBef>
                <a:spcPts val="0"/>
              </a:spcBef>
              <a:spcAft>
                <a:spcPts val="0"/>
              </a:spcAft>
              <a:buNone/>
            </a:pPr>
            <a:r>
              <a:rPr b="1" lang="en" sz="3200">
                <a:solidFill>
                  <a:srgbClr val="FFFFFF"/>
                </a:solidFill>
              </a:rPr>
              <a:t>Thank You</a:t>
            </a:r>
            <a:endParaRPr b="1" sz="1000">
              <a:solidFill>
                <a:srgbClr val="FFFF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